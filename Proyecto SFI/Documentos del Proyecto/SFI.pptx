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8B83391-21B5-43B1-AC09-000321C40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9E2C877-5DE6-4BE9-81EB-AB0A6598EDDF}"/>
              </a:ext>
            </a:extLst>
          </p:cNvPr>
          <p:cNvSpPr>
            <a:spLocks noGrp="1"/>
          </p:cNvSpPr>
          <p:nvPr/>
        </p:nvSpPr>
        <p:spPr>
          <a:xfrm>
            <a:off x="3486149" y="838200"/>
            <a:ext cx="5219700" cy="2686050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Imagen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28831" y="952500"/>
            <a:ext cx="4934337" cy="24574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2E8DC71-32E0-4421-BB5F-A461887BF225}"/>
              </a:ext>
            </a:extLst>
          </p:cNvPr>
          <p:cNvSpPr>
            <a:spLocks noGrp="1"/>
          </p:cNvSpPr>
          <p:nvPr/>
        </p:nvSpPr>
        <p:spPr>
          <a:xfrm>
            <a:off x="5491353" y="4056697"/>
            <a:ext cx="1209294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650" dirty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rPr>
              <a:t>Integrantes:</a:t>
            </a:r>
            <a:endParaRPr sz="1650" b="0" dirty="0">
              <a:solidFill>
                <a:srgbClr val="C9DAF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E16E6E-FE74-41DF-AEA7-A6238438F341}"/>
              </a:ext>
            </a:extLst>
          </p:cNvPr>
          <p:cNvSpPr>
            <a:spLocks noGrp="1"/>
          </p:cNvSpPr>
          <p:nvPr/>
        </p:nvSpPr>
        <p:spPr>
          <a:xfrm>
            <a:off x="4682869" y="4483989"/>
            <a:ext cx="28262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6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Felipe Chávez - </a:t>
            </a:r>
            <a:r>
              <a:rPr lang="es-CL" sz="160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Alonso Urrutia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6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Vicente Palma - </a:t>
            </a:r>
            <a:r>
              <a:rPr lang="es-CL" sz="160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Franco Miranda</a:t>
            </a:r>
            <a:endParaRPr sz="1600" b="0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C2D091-144B-4487-9842-67ADD7E110A1}"/>
              </a:ext>
            </a:extLst>
          </p:cNvPr>
          <p:cNvSpPr>
            <a:spLocks noGrp="1"/>
          </p:cNvSpPr>
          <p:nvPr/>
        </p:nvSpPr>
        <p:spPr>
          <a:xfrm>
            <a:off x="647700" y="63246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AFC6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dirty="0">
                <a:solidFill>
                  <a:srgbClr val="AFC6E8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E90964-DE8A-48AE-A21B-278C25406C4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AFC6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AFC6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876043-5391-7BDF-7434-DCF1C93489DB}"/>
              </a:ext>
            </a:extLst>
          </p:cNvPr>
          <p:cNvSpPr>
            <a:spLocks noGrp="1"/>
          </p:cNvSpPr>
          <p:nvPr/>
        </p:nvSpPr>
        <p:spPr>
          <a:xfrm>
            <a:off x="11944350" y="0"/>
            <a:ext cx="2476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1B7623-BFBA-B6CE-C1AA-D4C8F2AD7F23}"/>
              </a:ext>
            </a:extLst>
          </p:cNvPr>
          <p:cNvSpPr>
            <a:spLocks noGrp="1"/>
          </p:cNvSpPr>
          <p:nvPr/>
        </p:nvSpPr>
        <p:spPr>
          <a:xfrm>
            <a:off x="8563168" y="6134100"/>
            <a:ext cx="1358072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650" b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600" dirty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rPr>
              <a:t>Sección: 003D</a:t>
            </a:r>
            <a:endParaRPr sz="1600" b="0" dirty="0">
              <a:solidFill>
                <a:srgbClr val="C9DAF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584BE5E-A063-7233-8D3F-CBD0CE539AC9}"/>
              </a:ext>
            </a:extLst>
          </p:cNvPr>
          <p:cNvSpPr>
            <a:spLocks noGrp="1"/>
          </p:cNvSpPr>
          <p:nvPr/>
        </p:nvSpPr>
        <p:spPr>
          <a:xfrm>
            <a:off x="2198559" y="6153150"/>
            <a:ext cx="257518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650" b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600" dirty="0">
                <a:solidFill>
                  <a:srgbClr val="C9DAF2"/>
                </a:solidFill>
                <a:latin typeface="Bitstream Charter"/>
                <a:ea typeface="Bitstream Charter"/>
                <a:cs typeface="Bitstream Charter"/>
              </a:rPr>
              <a:t>Docente: Juan Alberto Gana</a:t>
            </a:r>
            <a:endParaRPr sz="1600" b="0" dirty="0">
              <a:solidFill>
                <a:srgbClr val="C9DAF2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00474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A0E7AF55-563F-4F89-A913-2ADEE63902AB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EMPRESA MANDANTE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254018-F02A-4FBF-815A-0C83E06C1DD9}"/>
              </a:ext>
            </a:extLst>
          </p:cNvPr>
          <p:cNvSpPr>
            <a:spLocks noGrp="1"/>
          </p:cNvSpPr>
          <p:nvPr/>
        </p:nvSpPr>
        <p:spPr>
          <a:xfrm>
            <a:off x="762000" y="685800"/>
            <a:ext cx="857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Contexto</a:t>
            </a:r>
            <a:r>
              <a:rPr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lang="es-CL"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</a:t>
            </a: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royecto</a:t>
            </a:r>
            <a:endParaRPr sz="2550" b="1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A1AA317-58EE-46D9-A7B2-6DFA0A60A4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14286"/>
            </a:avLst>
          </a:prstGeom>
          <a:solidFill>
            <a:srgbClr val="FFD2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29"/>
            <a:ext cx="1428750" cy="711518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A75A31A-E562-4294-A25A-33E4A1FABCBD}"/>
              </a:ext>
            </a:extLst>
          </p:cNvPr>
          <p:cNvSpPr>
            <a:spLocks noGrp="1"/>
          </p:cNvSpPr>
          <p:nvPr/>
        </p:nvSpPr>
        <p:spPr>
          <a:xfrm>
            <a:off x="904875" y="1666875"/>
            <a:ext cx="10382250" cy="3333750"/>
          </a:xfrm>
          <a:prstGeom prst="roundRect">
            <a:avLst>
              <a:gd name="adj" fmla="val 9032"/>
            </a:avLst>
          </a:prstGeom>
          <a:solidFill>
            <a:srgbClr val="EEF4F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225EC4-F885-4B3F-BC95-595DD6022EAB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00965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defRPr sz="1500" b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Grupo Punto Obra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SpA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comercializa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distribuye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materiales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construcción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herramientas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productos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para el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mejoramiento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hogar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 La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empresa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opera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sucursales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Quilicura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Huechuraba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Santiago Centro, junto con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bodega central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ubicada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Quilicura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  <a:p>
            <a:endParaRPr sz="2000" b="0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defRPr sz="1500" b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organización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identificó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la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necesidad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modernizar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su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canal de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venta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concentrar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sola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plataforma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el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catálogo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inventario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ventas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pagos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atención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al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cliente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 Para responder a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esta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necesidad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adquirió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financió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SFI,</a:t>
            </a:r>
            <a:r>
              <a:rPr lang="es-CL"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con un presupuesto de 100 millones de pesos (2445,36 UF),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solución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que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incorpora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ecommerce,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asistencia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mediante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inteligencia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artificial y </a:t>
            </a:r>
            <a:r>
              <a:rPr sz="2000" b="0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promoción</a:t>
            </a:r>
            <a:r>
              <a:rPr sz="20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maestros.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7309AE3-6FF1-4658-97B5-35D99EA35E93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8D5D33-C2B7-4EA1-9A86-7336D0524D9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49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23921132-E849-40E8-8E52-037569A01A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Imagen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15383A0-941B-48E2-8A8E-F31DE7B56C2C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POR QUÉ SFI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2DC597-9539-4058-AD36-326FFC491485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Problema y oportunidad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9CAB8DD-31BA-43CF-9459-538C867F8606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2E2383-8873-4C03-B302-74455258E4D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4409E3-2161-47B8-B52D-E3B962422C3D}"/>
              </a:ext>
            </a:extLst>
          </p:cNvPr>
          <p:cNvSpPr>
            <a:spLocks noGrp="1"/>
          </p:cNvSpPr>
          <p:nvPr/>
        </p:nvSpPr>
        <p:spPr>
          <a:xfrm>
            <a:off x="1295400" y="1666875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Compra sin Guia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AB6F34-3D56-4493-BAA1-4BA3D78A951C}"/>
              </a:ext>
            </a:extLst>
          </p:cNvPr>
          <p:cNvSpPr>
            <a:spLocks noGrp="1"/>
          </p:cNvSpPr>
          <p:nvPr/>
        </p:nvSpPr>
        <p:spPr>
          <a:xfrm>
            <a:off x="1295400" y="1952625"/>
            <a:ext cx="4419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dirty="0">
                <a:latin typeface="Bitstream Charter"/>
                <a:ea typeface="Bitstream Charter"/>
                <a:cs typeface="Bitstream Charter"/>
              </a:rPr>
              <a:t>Muchos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clientes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conocen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el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proyecto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que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quieren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realizar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pero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no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identifican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materiales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cantidades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 o </a:t>
            </a:r>
            <a:r>
              <a:rPr sz="1400" dirty="0" err="1">
                <a:latin typeface="Bitstream Charter"/>
                <a:ea typeface="Bitstream Charter"/>
                <a:cs typeface="Bitstream Charter"/>
              </a:rPr>
              <a:t>alternativas</a:t>
            </a:r>
            <a:r>
              <a:rPr sz="1400" dirty="0"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DBFCAC2-DF97-47CB-8085-7E28B4F74686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FE0112D-A1D8-416D-9692-D6B6290E1D20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D01C993-023E-4CB7-9727-E0212DC8AA64}"/>
              </a:ext>
            </a:extLst>
          </p:cNvPr>
          <p:cNvSpPr>
            <a:spLocks noGrp="1"/>
          </p:cNvSpPr>
          <p:nvPr/>
        </p:nvSpPr>
        <p:spPr>
          <a:xfrm>
            <a:off x="1295400" y="3000375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Información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fragmentada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3CBB8E-79A1-436D-9D04-C8FBE91EB321}"/>
              </a:ext>
            </a:extLst>
          </p:cNvPr>
          <p:cNvSpPr>
            <a:spLocks noGrp="1"/>
          </p:cNvSpPr>
          <p:nvPr/>
        </p:nvSpPr>
        <p:spPr>
          <a:xfrm>
            <a:off x="1295400" y="3286125"/>
            <a:ext cx="4419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Catálogo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stock,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venta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reposición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apoyo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al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cliente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suelen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funcionar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como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procesos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separados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FB2BC89-09B6-49AF-BE9A-7EE67A6CD2B7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1DCDC9-4B6E-4448-83ED-3DA7584D4DF0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EA686D-2754-43D6-8D92-406531AC5A59}"/>
              </a:ext>
            </a:extLst>
          </p:cNvPr>
          <p:cNvSpPr>
            <a:spLocks noGrp="1"/>
          </p:cNvSpPr>
          <p:nvPr/>
        </p:nvSpPr>
        <p:spPr>
          <a:xfrm>
            <a:off x="1295400" y="4333875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Profesionales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con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poca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visibilidad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3AC4EE1-00A2-444B-B3BC-79AE147FC8B0}"/>
              </a:ext>
            </a:extLst>
          </p:cNvPr>
          <p:cNvSpPr>
            <a:spLocks noGrp="1"/>
          </p:cNvSpPr>
          <p:nvPr/>
        </p:nvSpPr>
        <p:spPr>
          <a:xfrm>
            <a:off x="1295400" y="4619625"/>
            <a:ext cx="4419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Los maestros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necesitan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un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espacio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donde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mostrar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especialidades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portafolio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frente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a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clientes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interesados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954A748-02CE-4A58-9752-86996FDF3B0F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286250" cy="3524250"/>
          </a:xfrm>
          <a:prstGeom prst="roundRect">
            <a:avLst>
              <a:gd name="adj" fmla="val 7568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17AE56-64DD-4083-A986-7D469F62F303}"/>
              </a:ext>
            </a:extLst>
          </p:cNvPr>
          <p:cNvSpPr>
            <a:spLocks noGrp="1"/>
          </p:cNvSpPr>
          <p:nvPr/>
        </p:nvSpPr>
        <p:spPr>
          <a:xfrm>
            <a:off x="7143750" y="20955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Oportunidad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8E6C85E-4158-454A-8BD4-1D4B366998A4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08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Concentrar el recorrido digital en una sola plataforma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2C054DC-5C20-4E6F-A1DD-9E3D6AAD46A1}"/>
              </a:ext>
            </a:extLst>
          </p:cNvPr>
          <p:cNvSpPr>
            <a:spLocks noGrp="1"/>
          </p:cNvSpPr>
          <p:nvPr/>
        </p:nvSpPr>
        <p:spPr>
          <a:xfrm>
            <a:off x="7286625" y="3857625"/>
            <a:ext cx="3048000" cy="1905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92DD25-A5A8-4C1F-BC27-0A3DD65DC528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>
                <a:solidFill>
                  <a:srgbClr val="D6E4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6E4F7"/>
                </a:solidFill>
                <a:latin typeface="Bitstream Charter"/>
                <a:ea typeface="Bitstream Charter"/>
                <a:cs typeface="Bitstream Charter"/>
              </a:rPr>
              <a:t>Más orientación para el cliente</a:t>
            </a:r>
          </a:p>
          <a:p>
            <a:pPr algn="ctr">
              <a:buNone/>
              <a:defRPr sz="1500" b="0">
                <a:solidFill>
                  <a:srgbClr val="D6E4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6E4F7"/>
                </a:solidFill>
                <a:latin typeface="Bitstream Charter"/>
                <a:ea typeface="Bitstream Charter"/>
                <a:cs typeface="Bitstream Charter"/>
              </a:rPr>
              <a:t>Más control para la ferretería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81C132D-6D00-43AE-8833-5D71A4890A49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DEE4F28-28ED-43A6-9C56-D8B2F0EE2D8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140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31364C1F-D2DF-4BCE-B4CD-52C6188BC3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Imagen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A8C1481-CF8C-4093-8076-40B2EF9C6D42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EXPERIENCIA PROPUESTA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C70BA9-10D8-4D31-9703-F7B01153321A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Cómo funciona SFI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92DF2C0-4385-4E39-8658-8CF69B04EFDC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D0A649-4AA0-4339-8F34-2A78DCD7B92C}"/>
              </a:ext>
            </a:extLst>
          </p:cNvPr>
          <p:cNvSpPr>
            <a:spLocks noGrp="1"/>
          </p:cNvSpPr>
          <p:nvPr/>
        </p:nvSpPr>
        <p:spPr>
          <a:xfrm>
            <a:off x="826770" y="2143125"/>
            <a:ext cx="175641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1. Idea o </a:t>
            </a:r>
            <a:r>
              <a:rPr lang="es-CL"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N</a:t>
            </a:r>
            <a:r>
              <a:rPr sz="157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ecesidad</a:t>
            </a:r>
            <a:endParaRPr sz="1575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E4A00D-7590-478E-B6F9-F700F1C68091}"/>
              </a:ext>
            </a:extLst>
          </p:cNvPr>
          <p:cNvSpPr>
            <a:spLocks noGrp="1"/>
          </p:cNvSpPr>
          <p:nvPr/>
        </p:nvSpPr>
        <p:spPr>
          <a:xfrm>
            <a:off x="947928" y="3085718"/>
            <a:ext cx="1614678" cy="7654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75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El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cliente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explica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lo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que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quiere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construir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o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reparar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2C7FADA-0129-4E25-BDA4-DB83F01500D7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DF91253-8F38-4C12-8094-E08EDBD610D6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9D9F05-3A6E-44FD-B4FF-25C1D50BF02B}"/>
              </a:ext>
            </a:extLst>
          </p:cNvPr>
          <p:cNvSpPr>
            <a:spLocks noGrp="1"/>
          </p:cNvSpPr>
          <p:nvPr/>
        </p:nvSpPr>
        <p:spPr>
          <a:xfrm>
            <a:off x="3543680" y="2130171"/>
            <a:ext cx="1237488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2. Asistencia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F9DB27-0A54-4A26-96A3-84CC2819D1AA}"/>
              </a:ext>
            </a:extLst>
          </p:cNvPr>
          <p:cNvSpPr>
            <a:spLocks noGrp="1"/>
          </p:cNvSpPr>
          <p:nvPr/>
        </p:nvSpPr>
        <p:spPr>
          <a:xfrm>
            <a:off x="3176587" y="2992183"/>
            <a:ext cx="19716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 IA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orienta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relaciona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la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necesidad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con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materiales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catálogo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D41A06-143F-42D0-8AF5-4BB55308A4EF}"/>
              </a:ext>
            </a:extLst>
          </p:cNvPr>
          <p:cNvSpPr>
            <a:spLocks noGrp="1"/>
          </p:cNvSpPr>
          <p:nvPr/>
        </p:nvSpPr>
        <p:spPr>
          <a:xfrm>
            <a:off x="335280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7DE5C8F-6BF1-43D6-8BE6-5F0E8D075D14}"/>
              </a:ext>
            </a:extLst>
          </p:cNvPr>
          <p:cNvSpPr>
            <a:spLocks noGrp="1"/>
          </p:cNvSpPr>
          <p:nvPr/>
        </p:nvSpPr>
        <p:spPr>
          <a:xfrm>
            <a:off x="5619368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E2CC1ED-803B-4A15-9B61-64BEC3155D7A}"/>
              </a:ext>
            </a:extLst>
          </p:cNvPr>
          <p:cNvSpPr>
            <a:spLocks noGrp="1"/>
          </p:cNvSpPr>
          <p:nvPr/>
        </p:nvSpPr>
        <p:spPr>
          <a:xfrm>
            <a:off x="5993130" y="2201608"/>
            <a:ext cx="1047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3. Compra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18DDDFB-3A5D-46D8-BBD7-4B9E37305A41}"/>
              </a:ext>
            </a:extLst>
          </p:cNvPr>
          <p:cNvSpPr>
            <a:spLocks noGrp="1"/>
          </p:cNvSpPr>
          <p:nvPr/>
        </p:nvSpPr>
        <p:spPr>
          <a:xfrm>
            <a:off x="5915785" y="3102101"/>
            <a:ext cx="1445515" cy="89192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buNone/>
              <a:defRPr sz="1275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El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usuario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revisa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productos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stock,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carrito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pago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electrónico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81CF32F-7AB5-4542-AF97-AEA8AF9D3B4F}"/>
              </a:ext>
            </a:extLst>
          </p:cNvPr>
          <p:cNvSpPr>
            <a:spLocks noGrp="1"/>
          </p:cNvSpPr>
          <p:nvPr/>
        </p:nvSpPr>
        <p:spPr>
          <a:xfrm>
            <a:off x="581025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DAE3EAC-B618-4928-9C4D-6D459474E619}"/>
              </a:ext>
            </a:extLst>
          </p:cNvPr>
          <p:cNvSpPr>
            <a:spLocks noGrp="1"/>
          </p:cNvSpPr>
          <p:nvPr/>
        </p:nvSpPr>
        <p:spPr>
          <a:xfrm>
            <a:off x="8095486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0B242E5-DD0A-4778-B6C5-0D6FD64BF476}"/>
              </a:ext>
            </a:extLst>
          </p:cNvPr>
          <p:cNvSpPr>
            <a:spLocks noGrp="1"/>
          </p:cNvSpPr>
          <p:nvPr/>
        </p:nvSpPr>
        <p:spPr>
          <a:xfrm>
            <a:off x="8341995" y="2146554"/>
            <a:ext cx="14706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4. </a:t>
            </a:r>
            <a:r>
              <a:rPr sz="157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Continuidad</a:t>
            </a:r>
            <a:endParaRPr sz="1575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97DD161-7E6B-403A-AADE-3EA8D56E4E35}"/>
              </a:ext>
            </a:extLst>
          </p:cNvPr>
          <p:cNvSpPr>
            <a:spLocks noGrp="1"/>
          </p:cNvSpPr>
          <p:nvPr/>
        </p:nvSpPr>
        <p:spPr>
          <a:xfrm>
            <a:off x="8341995" y="2979799"/>
            <a:ext cx="1619250" cy="11365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l">
              <a:buNone/>
              <a:defRPr sz="1275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ferretería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registra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venta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e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inventario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 El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cliente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puede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consultar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maestros.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C8A10E7-DC8D-4038-A023-DF401711068C}"/>
              </a:ext>
            </a:extLst>
          </p:cNvPr>
          <p:cNvSpPr>
            <a:spLocks noGrp="1"/>
          </p:cNvSpPr>
          <p:nvPr/>
        </p:nvSpPr>
        <p:spPr>
          <a:xfrm>
            <a:off x="826770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79CB73D-6BE1-46BC-84BE-1FF30692ECFF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9334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94"/>
          </a:bodyPr>
          <a:lstStyle/>
          <a:p>
            <a:pPr algn="l">
              <a:buNone/>
              <a:defRPr sz="18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El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resultado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es un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recorrido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coherente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con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reglas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críticas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controladas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desde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el backend.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ED59E1D-4897-4216-9871-CFC40D91F48F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09E68FB-A6B1-4F0A-B6C1-618241D0362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879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809F7F16-0AC3-4DA5-88C9-61DA97C17A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4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AF855EE-216E-4628-A670-D43FFE0F52D7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QUÉ INCLUYE Y QUÉ LIMITA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D8BC53-C0A0-44F4-8469-74E506EB91A7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Alcance</a:t>
            </a:r>
            <a:r>
              <a:rPr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producto</a:t>
            </a:r>
            <a:endParaRPr sz="255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887A47-5E88-420B-A8B4-3DA626CBF15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20A3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20A36A"/>
                </a:solidFill>
                <a:latin typeface="Bitstream Charter"/>
                <a:ea typeface="Bitstream Charter"/>
                <a:cs typeface="Bitstream Charter"/>
              </a:rPr>
              <a:t>INCLUYE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39506D-4491-49CA-9460-3BACDF7B4840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D14A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D14A4A"/>
                </a:solidFill>
                <a:latin typeface="Bitstream Charter"/>
                <a:ea typeface="Bitstream Charter"/>
                <a:cs typeface="Bitstream Charter"/>
              </a:rPr>
              <a:t>FUERA DEL ALCANCE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2471E0F-95A7-477C-80C1-6B088CF225AC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F72B50-DF56-490E-B3AB-5D8EE26ED42B}"/>
              </a:ext>
            </a:extLst>
          </p:cNvPr>
          <p:cNvSpPr>
            <a:spLocks noGrp="1"/>
          </p:cNvSpPr>
          <p:nvPr/>
        </p:nvSpPr>
        <p:spPr>
          <a:xfrm>
            <a:off x="952500" y="19716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Usuarios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perfiles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roles y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permisos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06BD33F-C0A4-468F-8544-DF3E755963F5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413E84A-FA9A-4CB4-9A49-2FCA6AEC31B2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Catálogo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ofertas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carrito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ventas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pago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7EBCC5F-F499-4287-AC5E-94492C5EAE51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B77E93-C93F-4DE9-8700-954A50516823}"/>
              </a:ext>
            </a:extLst>
          </p:cNvPr>
          <p:cNvSpPr>
            <a:spLocks noGrp="1"/>
          </p:cNvSpPr>
          <p:nvPr/>
        </p:nvSpPr>
        <p:spPr>
          <a:xfrm>
            <a:off x="952500" y="32099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Stock,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proveedores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reposición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y Kardex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8D94518-D740-40B4-BE76-396BADD9BA54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63DD1C-F0B5-4E1E-A8E4-8FEFEEFC12F1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Asistencia con IA y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perfiles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de maestros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402D5EF-7556-4097-9DC8-A38B08121EF5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AE8C04F-DEFF-4A9E-94A0-2366D20DF760}"/>
              </a:ext>
            </a:extLst>
          </p:cNvPr>
          <p:cNvSpPr>
            <a:spLocks noGrp="1"/>
          </p:cNvSpPr>
          <p:nvPr/>
        </p:nvSpPr>
        <p:spPr>
          <a:xfrm>
            <a:off x="952500" y="44481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Administración,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documentación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C55CBCD-98CB-4CC0-82C1-E8B6F901DEBA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D29A9BB-EBB9-45D8-8A12-D7F85A3182E7}"/>
              </a:ext>
            </a:extLst>
          </p:cNvPr>
          <p:cNvSpPr>
            <a:spLocks noGrp="1"/>
          </p:cNvSpPr>
          <p:nvPr/>
        </p:nvSpPr>
        <p:spPr>
          <a:xfrm>
            <a:off x="6838950" y="197167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Contratación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formal o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pago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servicios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a maestros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C94F65D-6596-4CF9-83BF-E7052D044BC3}"/>
              </a:ext>
            </a:extLst>
          </p:cNvPr>
          <p:cNvSpPr>
            <a:spLocks noGrp="1"/>
          </p:cNvSpPr>
          <p:nvPr/>
        </p:nvSpPr>
        <p:spPr>
          <a:xfrm>
            <a:off x="6572250" y="2714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867048-B652-41F4-9567-7DE1679A0DC6}"/>
              </a:ext>
            </a:extLst>
          </p:cNvPr>
          <p:cNvSpPr>
            <a:spLocks noGrp="1"/>
          </p:cNvSpPr>
          <p:nvPr/>
        </p:nvSpPr>
        <p:spPr>
          <a:xfrm>
            <a:off x="6838950" y="2590800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Negociación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garantías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o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mediación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disputas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10D9037-A0F5-44DA-BA70-72F698E9CF71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31F3F0A-8D54-4F60-BF66-369585FDC8F4}"/>
              </a:ext>
            </a:extLst>
          </p:cNvPr>
          <p:cNvSpPr>
            <a:spLocks noGrp="1"/>
          </p:cNvSpPr>
          <p:nvPr/>
        </p:nvSpPr>
        <p:spPr>
          <a:xfrm>
            <a:off x="6838950" y="320992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400" b="1" dirty="0">
                <a:solidFill>
                  <a:srgbClr val="15213A"/>
                </a:solidFill>
                <a:latin typeface="Bitstream Charter"/>
              </a:rPr>
              <a:t>Contabilidad, remuneraciones y gestión tributaria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74A5E69-B946-4F9E-B8B4-35D5F48DDF50}"/>
              </a:ext>
            </a:extLst>
          </p:cNvPr>
          <p:cNvSpPr>
            <a:spLocks noGrp="1"/>
          </p:cNvSpPr>
          <p:nvPr/>
        </p:nvSpPr>
        <p:spPr>
          <a:xfrm>
            <a:off x="6572250" y="3952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ED2AD9E-8FEB-4E64-96F9-C40F77C42D9A}"/>
              </a:ext>
            </a:extLst>
          </p:cNvPr>
          <p:cNvSpPr>
            <a:spLocks noGrp="1"/>
          </p:cNvSpPr>
          <p:nvPr/>
        </p:nvSpPr>
        <p:spPr>
          <a:xfrm>
            <a:off x="6838950" y="3829050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Aplicación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móvil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nativa</a:t>
            </a:r>
            <a:r>
              <a:rPr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independiente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32AB7DC-518A-40C9-B660-97C7CE1E50D1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E5A0CB4-A191-4895-9C8E-739D3714DBC4}"/>
              </a:ext>
            </a:extLst>
          </p:cNvPr>
          <p:cNvSpPr>
            <a:spLocks noGrp="1"/>
          </p:cNvSpPr>
          <p:nvPr/>
        </p:nvSpPr>
        <p:spPr>
          <a:xfrm>
            <a:off x="6838950" y="444817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400" b="1" dirty="0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Migración masiva de los datos </a:t>
            </a:r>
            <a:r>
              <a:rPr lang="es-CL" sz="1400" b="1" dirty="0" err="1">
                <a:solidFill>
                  <a:srgbClr val="15213A"/>
                </a:solidFill>
                <a:latin typeface="Bitstream Charter"/>
                <a:ea typeface="Bitstream Charter"/>
                <a:cs typeface="Bitstream Charter"/>
              </a:rPr>
              <a:t>historicos</a:t>
            </a:r>
            <a:endParaRPr sz="1400" b="1" dirty="0">
              <a:solidFill>
                <a:srgbClr val="1521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B22D662F-9D46-4F67-BAB3-C6833B32DA2A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382250" cy="457200"/>
          </a:xfrm>
          <a:prstGeom prst="roundRect">
            <a:avLst>
              <a:gd name="adj" fmla="val 29167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34B0199-9AE4-41C6-B7FF-55E1257EE27A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99631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SFI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promociona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maestros.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Cliente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profesional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coordinan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externamente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precios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fechas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ejecución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la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obra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46F18D9-8625-4BEE-9C57-6C36C982D12C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65A2896-5CD3-4724-9742-59D2A30BEE5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712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50943B6-7D11-4570-AF2F-6F90354D18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4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F1D70A3-C371-4FEB-ADB4-18FFD8C90CB0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PRODUCTO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68EA124-04D9-4920-BC0B-F5EBDE0BD760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Módulos principales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5C90B8-A395-4DC9-9DA2-33F93BEC590C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BCD5B2-2271-4677-AE03-63D1180D1382}"/>
              </a:ext>
            </a:extLst>
          </p:cNvPr>
          <p:cNvSpPr>
            <a:spLocks noGrp="1"/>
          </p:cNvSpPr>
          <p:nvPr/>
        </p:nvSpPr>
        <p:spPr>
          <a:xfrm>
            <a:off x="876300" y="1857375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Usuarios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0D9A85-1BB1-4C93-9AF8-8F61285D9682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Acceso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perfiles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permisos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DB6E6CF-425B-43D6-901E-8A783DEBF4D6}"/>
              </a:ext>
            </a:extLst>
          </p:cNvPr>
          <p:cNvSpPr>
            <a:spLocks noGrp="1"/>
          </p:cNvSpPr>
          <p:nvPr/>
        </p:nvSpPr>
        <p:spPr>
          <a:xfrm>
            <a:off x="3381375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D3D070-915C-4197-BC6C-2D60E0B4D9C1}"/>
              </a:ext>
            </a:extLst>
          </p:cNvPr>
          <p:cNvSpPr>
            <a:spLocks noGrp="1"/>
          </p:cNvSpPr>
          <p:nvPr/>
        </p:nvSpPr>
        <p:spPr>
          <a:xfrm>
            <a:off x="3590925" y="1857375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Catálogo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AA60C4-92F2-4E74-8668-D6797DC00B32}"/>
              </a:ext>
            </a:extLst>
          </p:cNvPr>
          <p:cNvSpPr>
            <a:spLocks noGrp="1"/>
          </p:cNvSpPr>
          <p:nvPr/>
        </p:nvSpPr>
        <p:spPr>
          <a:xfrm>
            <a:off x="3590925" y="236220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Productos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categorías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ofertas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F1BE6C5-6B30-4995-B7E4-FFAA4C4EBD87}"/>
              </a:ext>
            </a:extLst>
          </p:cNvPr>
          <p:cNvSpPr>
            <a:spLocks noGrp="1"/>
          </p:cNvSpPr>
          <p:nvPr/>
        </p:nvSpPr>
        <p:spPr>
          <a:xfrm>
            <a:off x="6096000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5846EF-6641-4C92-BB27-DC287BBCE73C}"/>
              </a:ext>
            </a:extLst>
          </p:cNvPr>
          <p:cNvSpPr>
            <a:spLocks noGrp="1"/>
          </p:cNvSpPr>
          <p:nvPr/>
        </p:nvSpPr>
        <p:spPr>
          <a:xfrm>
            <a:off x="6305550" y="1857375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Ventas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89BC98F-9A94-43E8-9422-07630AA39AD5}"/>
              </a:ext>
            </a:extLst>
          </p:cNvPr>
          <p:cNvSpPr>
            <a:spLocks noGrp="1"/>
          </p:cNvSpPr>
          <p:nvPr/>
        </p:nvSpPr>
        <p:spPr>
          <a:xfrm>
            <a:off x="6305550" y="236220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Carrito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pago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boleta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e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historial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D09783F-591A-4EAC-A355-42523379CB55}"/>
              </a:ext>
            </a:extLst>
          </p:cNvPr>
          <p:cNvSpPr>
            <a:spLocks noGrp="1"/>
          </p:cNvSpPr>
          <p:nvPr/>
        </p:nvSpPr>
        <p:spPr>
          <a:xfrm>
            <a:off x="8810625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B26EE31-6883-47C4-9090-F30322A652EC}"/>
              </a:ext>
            </a:extLst>
          </p:cNvPr>
          <p:cNvSpPr>
            <a:spLocks noGrp="1"/>
          </p:cNvSpPr>
          <p:nvPr/>
        </p:nvSpPr>
        <p:spPr>
          <a:xfrm>
            <a:off x="9020175" y="1857375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Inventario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D719095-1B0B-4F43-8387-82D17E34E994}"/>
              </a:ext>
            </a:extLst>
          </p:cNvPr>
          <p:cNvSpPr>
            <a:spLocks noGrp="1"/>
          </p:cNvSpPr>
          <p:nvPr/>
        </p:nvSpPr>
        <p:spPr>
          <a:xfrm>
            <a:off x="9020175" y="236220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Stock,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proveedores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Kardex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DA6B2CA-5AD3-40AB-B6B2-17CAB40F49F1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126316-F759-46B1-9FD6-3C4E8F7B8859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F09F8ED-4195-4C87-AA7C-5CE9415E22FF}"/>
              </a:ext>
            </a:extLst>
          </p:cNvPr>
          <p:cNvSpPr>
            <a:spLocks noGrp="1"/>
          </p:cNvSpPr>
          <p:nvPr/>
        </p:nvSpPr>
        <p:spPr>
          <a:xfrm>
            <a:off x="876300" y="4314825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Orientación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sugerencias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compra</a:t>
            </a:r>
            <a:endParaRPr sz="1400" b="0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2EAE817-E91D-4DD8-8419-1A45C0C8B8CD}"/>
              </a:ext>
            </a:extLst>
          </p:cNvPr>
          <p:cNvSpPr>
            <a:spLocks noGrp="1"/>
          </p:cNvSpPr>
          <p:nvPr/>
        </p:nvSpPr>
        <p:spPr>
          <a:xfrm>
            <a:off x="3381375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14032FA-8DC6-41F8-9B06-78351853EBB2}"/>
              </a:ext>
            </a:extLst>
          </p:cNvPr>
          <p:cNvSpPr>
            <a:spLocks noGrp="1"/>
          </p:cNvSpPr>
          <p:nvPr/>
        </p:nvSpPr>
        <p:spPr>
          <a:xfrm>
            <a:off x="3590925" y="381000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Maestros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816524A-79D1-4821-BFBD-BF7A259E2CDF}"/>
              </a:ext>
            </a:extLst>
          </p:cNvPr>
          <p:cNvSpPr>
            <a:spLocks noGrp="1"/>
          </p:cNvSpPr>
          <p:nvPr/>
        </p:nvSpPr>
        <p:spPr>
          <a:xfrm>
            <a:off x="3590925" y="4314825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Perfiles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especialidades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visibilidad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98EA00C-C008-41FD-AB62-6D008E6D9B1E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23D6219-117E-44AA-8E6C-F06793EE30C4}"/>
              </a:ext>
            </a:extLst>
          </p:cNvPr>
          <p:cNvSpPr>
            <a:spLocks noGrp="1"/>
          </p:cNvSpPr>
          <p:nvPr/>
        </p:nvSpPr>
        <p:spPr>
          <a:xfrm>
            <a:off x="6305550" y="381000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Despachos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77CFDBE-0A25-444E-A0E2-FFD1EE5BB576}"/>
              </a:ext>
            </a:extLst>
          </p:cNvPr>
          <p:cNvSpPr>
            <a:spLocks noGrp="1"/>
          </p:cNvSpPr>
          <p:nvPr/>
        </p:nvSpPr>
        <p:spPr>
          <a:xfrm>
            <a:off x="6305550" y="4314825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Retiros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entrega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estados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25CD899-3C07-418E-BA9F-7529ECA7FF2E}"/>
              </a:ext>
            </a:extLst>
          </p:cNvPr>
          <p:cNvSpPr>
            <a:spLocks noGrp="1"/>
          </p:cNvSpPr>
          <p:nvPr/>
        </p:nvSpPr>
        <p:spPr>
          <a:xfrm>
            <a:off x="8810625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4823CDD-31A9-4F64-BDC1-06430178FF57}"/>
              </a:ext>
            </a:extLst>
          </p:cNvPr>
          <p:cNvSpPr>
            <a:spLocks noGrp="1"/>
          </p:cNvSpPr>
          <p:nvPr/>
        </p:nvSpPr>
        <p:spPr>
          <a:xfrm>
            <a:off x="9020175" y="381000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Administración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0C7865D-D6CF-4986-B9DC-13894ABDB542}"/>
              </a:ext>
            </a:extLst>
          </p:cNvPr>
          <p:cNvSpPr>
            <a:spLocks noGrp="1"/>
          </p:cNvSpPr>
          <p:nvPr/>
        </p:nvSpPr>
        <p:spPr>
          <a:xfrm>
            <a:off x="9020175" y="4314825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Gestión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interna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según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rol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6008D1E-2F9A-43ED-A6A1-61C411B6EB3A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89CDF58-85A1-46D6-BF54-9FAF7253ECB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211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5416316E-B308-4B0E-89D4-46D8966A0E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Imagen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79C81BC-0C7C-4594-88B4-FD852BE47865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DJANGO MVT Y MYSQL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3D2AD9B-9FB0-4E0E-8358-097A5F9FC6D8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Arquitectura</a:t>
            </a:r>
            <a:r>
              <a:rPr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la </a:t>
            </a: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solución</a:t>
            </a:r>
            <a:endParaRPr sz="255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5466A99-3A59-4AF9-A51B-A5B8E2B9517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7885F1-68C6-4559-AE79-43F255A5ABC1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Navegador</a:t>
            </a:r>
            <a:endParaRPr sz="1725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F6A149-9502-4C6D-B6A0-06D2B7A1526A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27051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HTML · CSS · JavaScript · Django Templates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96A039-8B8A-4CD9-A4E9-B5BA6E9A4781}"/>
              </a:ext>
            </a:extLst>
          </p:cNvPr>
          <p:cNvSpPr>
            <a:spLocks noGrp="1"/>
          </p:cNvSpPr>
          <p:nvPr/>
        </p:nvSpPr>
        <p:spPr>
          <a:xfrm>
            <a:off x="4352925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AE2FA5-20D4-4A4C-BA37-3F8D48BB6163}"/>
              </a:ext>
            </a:extLst>
          </p:cNvPr>
          <p:cNvSpPr>
            <a:spLocks noGrp="1"/>
          </p:cNvSpPr>
          <p:nvPr/>
        </p:nvSpPr>
        <p:spPr>
          <a:xfrm>
            <a:off x="4619625" y="209550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Aplicación</a:t>
            </a:r>
            <a:endParaRPr sz="1725" b="1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E431FF-9B7F-4992-A0AE-306F902D87B3}"/>
              </a:ext>
            </a:extLst>
          </p:cNvPr>
          <p:cNvSpPr>
            <a:spLocks noGrp="1"/>
          </p:cNvSpPr>
          <p:nvPr/>
        </p:nvSpPr>
        <p:spPr>
          <a:xfrm>
            <a:off x="4619625" y="2628900"/>
            <a:ext cx="27051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URLs · Views · Forms ·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servicios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·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reglas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negocio</a:t>
            </a:r>
            <a:endParaRPr sz="1400" b="0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5F86230-A812-4BA5-BBBE-130AA7765140}"/>
              </a:ext>
            </a:extLst>
          </p:cNvPr>
          <p:cNvSpPr>
            <a:spLocks noGrp="1"/>
          </p:cNvSpPr>
          <p:nvPr/>
        </p:nvSpPr>
        <p:spPr>
          <a:xfrm>
            <a:off x="8020050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E10C4F-B54F-4BF1-86D5-BE7FB315040A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895ACF2-9F73-4F71-A763-C663830A5D24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27051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Models · Django ORM ·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migraciones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· MySQL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8A883B8-2511-4AE1-98F2-BC5F402E2BAD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buNone/>
              <a:defRPr sz="16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Integraciones controladas por el backend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BA9EDF1-6A06-4ACB-819D-DD1A75A35FF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714500" cy="3429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769F57-C6BE-4DF1-A501-A33A8E7CBCAF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1447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Webpay</a:t>
            </a: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Plus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2F44FC3-AB41-4C38-A463-AE443698AA8D}"/>
              </a:ext>
            </a:extLst>
          </p:cNvPr>
          <p:cNvSpPr>
            <a:spLocks noGrp="1"/>
          </p:cNvSpPr>
          <p:nvPr/>
        </p:nvSpPr>
        <p:spPr>
          <a:xfrm>
            <a:off x="2571750" y="46672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19AAE4-D05D-4FAA-84BC-4E546450484F}"/>
              </a:ext>
            </a:extLst>
          </p:cNvPr>
          <p:cNvSpPr>
            <a:spLocks noGrp="1"/>
          </p:cNvSpPr>
          <p:nvPr/>
        </p:nvSpPr>
        <p:spPr>
          <a:xfrm>
            <a:off x="2705100" y="4667250"/>
            <a:ext cx="1066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Correo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012DECB-4576-4186-BACB-5A3081F5BF8A}"/>
              </a:ext>
            </a:extLst>
          </p:cNvPr>
          <p:cNvSpPr>
            <a:spLocks noGrp="1"/>
          </p:cNvSpPr>
          <p:nvPr/>
        </p:nvSpPr>
        <p:spPr>
          <a:xfrm>
            <a:off x="4076700" y="4667250"/>
            <a:ext cx="1809750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96BA5FC-2B47-44FF-AE74-B534AFA96EBE}"/>
              </a:ext>
            </a:extLst>
          </p:cNvPr>
          <p:cNvSpPr>
            <a:spLocks noGrp="1"/>
          </p:cNvSpPr>
          <p:nvPr/>
        </p:nvSpPr>
        <p:spPr>
          <a:xfrm>
            <a:off x="4210050" y="4667250"/>
            <a:ext cx="15430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Servicios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IA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8BD28A8-CF71-41BE-9255-96BAD8DE5084}"/>
              </a:ext>
            </a:extLst>
          </p:cNvPr>
          <p:cNvSpPr>
            <a:spLocks noGrp="1"/>
          </p:cNvSpPr>
          <p:nvPr/>
        </p:nvSpPr>
        <p:spPr>
          <a:xfrm>
            <a:off x="6572250" y="4114800"/>
            <a:ext cx="4305300" cy="1285875"/>
          </a:xfrm>
          <a:prstGeom prst="roundRect">
            <a:avLst>
              <a:gd name="adj" fmla="val 14815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F9B21B8-C9E0-47B1-909A-838C84650D40}"/>
              </a:ext>
            </a:extLst>
          </p:cNvPr>
          <p:cNvSpPr>
            <a:spLocks noGrp="1"/>
          </p:cNvSpPr>
          <p:nvPr/>
        </p:nvSpPr>
        <p:spPr>
          <a:xfrm>
            <a:off x="6858000" y="43053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Seguridad</a:t>
            </a:r>
            <a:endParaRPr sz="1400" b="1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D91CCE-7203-486F-89D2-89715DCBB70E}"/>
              </a:ext>
            </a:extLst>
          </p:cNvPr>
          <p:cNvSpPr>
            <a:spLocks noGrp="1"/>
          </p:cNvSpPr>
          <p:nvPr/>
        </p:nvSpPr>
        <p:spPr>
          <a:xfrm>
            <a:off x="6858000" y="4686300"/>
            <a:ext cx="40195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Sesiones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permisos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CSRF ·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servidor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secretos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por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entorno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HTTPS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producción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39F1674-A023-4E74-9021-3372A8D27FAC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1548106-2A2D-4781-9AE5-DE0AFE4FE3F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991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E15391AB-889F-4EBC-8DA2-335E1C7144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1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3B118DA-8DE3-4E8A-95E9-FC4BB7CD7ED5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HERRAMIENTAS SELECCIONADAS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2D09129-4DA5-4AEE-BD17-4847F970318C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Stack tecnológico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DD7AEE8-248E-4C73-A92E-BFE5B857603A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45CE2D-858B-4B36-842A-8D8A30F274D6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0B9DEF8-C9DD-4C33-85B6-40C15847C5BB}"/>
              </a:ext>
            </a:extLst>
          </p:cNvPr>
          <p:cNvSpPr>
            <a:spLocks noGrp="1"/>
          </p:cNvSpPr>
          <p:nvPr/>
        </p:nvSpPr>
        <p:spPr>
          <a:xfrm>
            <a:off x="9429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869BCF-1335-4410-9E13-826CD43B8703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6192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Django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Django ORM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FDE4525-6111-4943-AD50-8D8F6AF67A28}"/>
              </a:ext>
            </a:extLst>
          </p:cNvPr>
          <p:cNvSpPr>
            <a:spLocks noGrp="1"/>
          </p:cNvSpPr>
          <p:nvPr/>
        </p:nvSpPr>
        <p:spPr>
          <a:xfrm>
            <a:off x="28194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9F6C2F-83C2-4BD0-9C80-9E52CF2C9959}"/>
              </a:ext>
            </a:extLst>
          </p:cNvPr>
          <p:cNvSpPr>
            <a:spLocks noGrp="1"/>
          </p:cNvSpPr>
          <p:nvPr/>
        </p:nvSpPr>
        <p:spPr>
          <a:xfrm>
            <a:off x="2990850" y="20383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C494815-3CCE-4215-832F-F41D9087C6E8}"/>
              </a:ext>
            </a:extLst>
          </p:cNvPr>
          <p:cNvSpPr>
            <a:spLocks noGrp="1"/>
          </p:cNvSpPr>
          <p:nvPr/>
        </p:nvSpPr>
        <p:spPr>
          <a:xfrm>
            <a:off x="32670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F748BD5-FD48-4E42-9BC5-C2FCB867757A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16192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MySQL</a:t>
            </a: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Migraciones</a:t>
            </a:r>
            <a:endParaRPr sz="1575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Modelos</a:t>
            </a: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relacionales</a:t>
            </a:r>
            <a:endParaRPr sz="1575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4AEB5A9-D163-4868-AAF1-2D54277E980E}"/>
              </a:ext>
            </a:extLst>
          </p:cNvPr>
          <p:cNvSpPr>
            <a:spLocks noGrp="1"/>
          </p:cNvSpPr>
          <p:nvPr/>
        </p:nvSpPr>
        <p:spPr>
          <a:xfrm>
            <a:off x="51435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9E6944D-223E-4F74-B137-D3EE1F5C7F96}"/>
              </a:ext>
            </a:extLst>
          </p:cNvPr>
          <p:cNvSpPr>
            <a:spLocks noGrp="1"/>
          </p:cNvSpPr>
          <p:nvPr/>
        </p:nvSpPr>
        <p:spPr>
          <a:xfrm>
            <a:off x="5314950" y="20383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FRONTEND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1A96CFE-FF2D-4A06-BE15-E87B1E458CC5}"/>
              </a:ext>
            </a:extLst>
          </p:cNvPr>
          <p:cNvSpPr>
            <a:spLocks noGrp="1"/>
          </p:cNvSpPr>
          <p:nvPr/>
        </p:nvSpPr>
        <p:spPr>
          <a:xfrm>
            <a:off x="55911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125EFB2-2E7D-4B6E-A913-A7C2223CD7A6}"/>
              </a:ext>
            </a:extLst>
          </p:cNvPr>
          <p:cNvSpPr>
            <a:spLocks noGrp="1"/>
          </p:cNvSpPr>
          <p:nvPr/>
        </p:nvSpPr>
        <p:spPr>
          <a:xfrm>
            <a:off x="5353050" y="2781300"/>
            <a:ext cx="16192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HTML5</a:t>
            </a: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CSS3</a:t>
            </a: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JavaScript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6038FB5-90C2-4E28-8B49-3758D0EAA3B2}"/>
              </a:ext>
            </a:extLst>
          </p:cNvPr>
          <p:cNvSpPr>
            <a:spLocks noGrp="1"/>
          </p:cNvSpPr>
          <p:nvPr/>
        </p:nvSpPr>
        <p:spPr>
          <a:xfrm>
            <a:off x="74676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A1CE722-0F69-463B-8E34-46FD344B162F}"/>
              </a:ext>
            </a:extLst>
          </p:cNvPr>
          <p:cNvSpPr>
            <a:spLocks noGrp="1"/>
          </p:cNvSpPr>
          <p:nvPr/>
        </p:nvSpPr>
        <p:spPr>
          <a:xfrm>
            <a:off x="7639050" y="20383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CALIDAD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6C6A5CA-39CE-4916-B549-DE05B8B1C9C4}"/>
              </a:ext>
            </a:extLst>
          </p:cNvPr>
          <p:cNvSpPr>
            <a:spLocks noGrp="1"/>
          </p:cNvSpPr>
          <p:nvPr/>
        </p:nvSpPr>
        <p:spPr>
          <a:xfrm>
            <a:off x="79152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1AD39B5-B974-4965-AC6F-D1652DD9C2C1}"/>
              </a:ext>
            </a:extLst>
          </p:cNvPr>
          <p:cNvSpPr>
            <a:spLocks noGrp="1"/>
          </p:cNvSpPr>
          <p:nvPr/>
        </p:nvSpPr>
        <p:spPr>
          <a:xfrm>
            <a:off x="7677150" y="2781300"/>
            <a:ext cx="16192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Pytest</a:t>
            </a:r>
            <a:endParaRPr sz="1575" b="1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Apache JMeter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5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manuales</a:t>
            </a:r>
            <a:endParaRPr sz="1575" b="1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B0E40EC-8FD5-4ACF-95CD-9AFE843BBDA7}"/>
              </a:ext>
            </a:extLst>
          </p:cNvPr>
          <p:cNvSpPr>
            <a:spLocks noGrp="1"/>
          </p:cNvSpPr>
          <p:nvPr/>
        </p:nvSpPr>
        <p:spPr>
          <a:xfrm>
            <a:off x="97917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D9E9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ECA5283-C004-45F9-8BDC-2ED7D812D8C7}"/>
              </a:ext>
            </a:extLst>
          </p:cNvPr>
          <p:cNvSpPr>
            <a:spLocks noGrp="1"/>
          </p:cNvSpPr>
          <p:nvPr/>
        </p:nvSpPr>
        <p:spPr>
          <a:xfrm>
            <a:off x="9963150" y="20383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COLABORACIÓN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183793B-FCAF-47E7-9F04-CC77CA404152}"/>
              </a:ext>
            </a:extLst>
          </p:cNvPr>
          <p:cNvSpPr>
            <a:spLocks noGrp="1"/>
          </p:cNvSpPr>
          <p:nvPr/>
        </p:nvSpPr>
        <p:spPr>
          <a:xfrm>
            <a:off x="102393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44FAF5A-18A3-4982-B007-35E1F89C16FE}"/>
              </a:ext>
            </a:extLst>
          </p:cNvPr>
          <p:cNvSpPr>
            <a:spLocks noGrp="1"/>
          </p:cNvSpPr>
          <p:nvPr/>
        </p:nvSpPr>
        <p:spPr>
          <a:xfrm>
            <a:off x="10001250" y="2781300"/>
            <a:ext cx="16192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Git</a:t>
            </a: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GitHub</a:t>
            </a:r>
          </a:p>
          <a:p>
            <a:pPr algn="ctr">
              <a:buNone/>
              <a:defRPr sz="15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Visual Studio Code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1AEA0EB-00DC-406A-ABE7-4DCA790656E6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Configuración</a:t>
            </a:r>
            <a:r>
              <a:rPr sz="15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reproducible </a:t>
            </a:r>
            <a:r>
              <a:rPr sz="15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mediante</a:t>
            </a:r>
            <a:r>
              <a:rPr sz="15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entorno</a:t>
            </a:r>
            <a:r>
              <a:rPr sz="15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virtual, requirements.txt y variables de </a:t>
            </a:r>
            <a:r>
              <a:rPr sz="15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entorno</a:t>
            </a:r>
            <a:r>
              <a:rPr sz="15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E0F6E2B-CC0F-44F7-88D2-D3B9592FD165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529C0A8-DC2F-4FF9-8E05-4730F4C825A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6793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4A1ABFF7-73FE-49AB-8137-BAE7796DEF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Imagen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7CB7FFC-05B0-49B9-83A3-09DB73364B5C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18 SEMANAS Y 3 SPRINTS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7FBD4F-9E15-4F71-90C0-BFCAB3FE7E1A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Plan de trabajo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35BA32F-387C-4CEE-B376-2D147BFA0B7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5E0B3E-7C35-4DB4-A6C2-8ED780F1AA3E}"/>
              </a:ext>
            </a:extLst>
          </p:cNvPr>
          <p:cNvSpPr>
            <a:spLocks noGrp="1"/>
          </p:cNvSpPr>
          <p:nvPr/>
        </p:nvSpPr>
        <p:spPr>
          <a:xfrm>
            <a:off x="95250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Sprint 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BA5E38-33AD-4A35-9A50-EEBE5FEBE521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170"/>
          </a:bodyPr>
          <a:lstStyle/>
          <a:p>
            <a:pPr algn="r">
              <a:buNone/>
              <a:defRPr sz="11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8 semanas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4CF843-590B-4192-B141-B14778BE589D}"/>
              </a:ext>
            </a:extLst>
          </p:cNvPr>
          <p:cNvSpPr>
            <a:spLocks noGrp="1"/>
          </p:cNvSpPr>
          <p:nvPr/>
        </p:nvSpPr>
        <p:spPr>
          <a:xfrm>
            <a:off x="952500" y="25431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rPr>
              <a:t>10 ago – 2 oct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29FB81-4F22-4A78-8552-75D825E02EE3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2705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Base del ecommerce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1AC8E92-B855-4730-8150-31C3F232C412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27051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Requerimientos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cuentas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, CRUD, frontend, backend,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carrito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Webpay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 Plus.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7CB2BD-0AFA-44D0-AA03-1370A4D5F571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2D9302-771F-4E76-96A6-ECB43D45D08D}"/>
              </a:ext>
            </a:extLst>
          </p:cNvPr>
          <p:cNvSpPr>
            <a:spLocks noGrp="1"/>
          </p:cNvSpPr>
          <p:nvPr/>
        </p:nvSpPr>
        <p:spPr>
          <a:xfrm>
            <a:off x="462915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Sprint 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72222A-E618-4EFE-9588-EDED0B9A314E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170"/>
          </a:bodyPr>
          <a:lstStyle/>
          <a:p>
            <a:pPr algn="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6 semanas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1A39A66-A846-48B2-A561-579CA590E9E9}"/>
              </a:ext>
            </a:extLst>
          </p:cNvPr>
          <p:cNvSpPr>
            <a:spLocks noGrp="1"/>
          </p:cNvSpPr>
          <p:nvPr/>
        </p:nvSpPr>
        <p:spPr>
          <a:xfrm>
            <a:off x="4629150" y="25431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5 oct – 13 </a:t>
            </a:r>
            <a:r>
              <a:rPr sz="1400" b="0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nov</a:t>
            </a:r>
            <a:endParaRPr sz="1400" b="0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0C3AD2B-50AB-4AED-BB97-CD06BEB2C4B1}"/>
              </a:ext>
            </a:extLst>
          </p:cNvPr>
          <p:cNvSpPr>
            <a:spLocks noGrp="1"/>
          </p:cNvSpPr>
          <p:nvPr/>
        </p:nvSpPr>
        <p:spPr>
          <a:xfrm>
            <a:off x="4629150" y="3095625"/>
            <a:ext cx="2705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Funciones avanzadas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4E3193A-9541-4141-9C18-78F65E5980B0}"/>
              </a:ext>
            </a:extLst>
          </p:cNvPr>
          <p:cNvSpPr>
            <a:spLocks noGrp="1"/>
          </p:cNvSpPr>
          <p:nvPr/>
        </p:nvSpPr>
        <p:spPr>
          <a:xfrm>
            <a:off x="4629150" y="3810000"/>
            <a:ext cx="27051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IA, stock y Kardex, maestros, </a:t>
            </a:r>
            <a:r>
              <a:rPr sz="1400" b="0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sugerencias</a:t>
            </a: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compra</a:t>
            </a: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mejoras</a:t>
            </a: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despachos</a:t>
            </a:r>
            <a:r>
              <a:rPr sz="1400" b="0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69009A3-947A-4276-A471-AB134873F677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B4D26C1-FE60-447C-9770-DFBC079986C1}"/>
              </a:ext>
            </a:extLst>
          </p:cNvPr>
          <p:cNvSpPr>
            <a:spLocks noGrp="1"/>
          </p:cNvSpPr>
          <p:nvPr/>
        </p:nvSpPr>
        <p:spPr>
          <a:xfrm>
            <a:off x="830580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Sprint 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8E8FE6-1C80-4B10-9231-C1EDCA0838B7}"/>
              </a:ext>
            </a:extLst>
          </p:cNvPr>
          <p:cNvSpPr>
            <a:spLocks noGrp="1"/>
          </p:cNvSpPr>
          <p:nvPr/>
        </p:nvSpPr>
        <p:spPr>
          <a:xfrm>
            <a:off x="10134600" y="2095500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170"/>
          </a:bodyPr>
          <a:lstStyle/>
          <a:p>
            <a:pPr algn="r">
              <a:buNone/>
              <a:defRPr sz="11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4 semanas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1103D52-4B17-447A-97E4-734A3B770E30}"/>
              </a:ext>
            </a:extLst>
          </p:cNvPr>
          <p:cNvSpPr>
            <a:spLocks noGrp="1"/>
          </p:cNvSpPr>
          <p:nvPr/>
        </p:nvSpPr>
        <p:spPr>
          <a:xfrm>
            <a:off x="8305800" y="25431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rPr>
              <a:t>16 </a:t>
            </a:r>
            <a:r>
              <a:rPr sz="1400" b="0" dirty="0" err="1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rPr>
              <a:t>nov</a:t>
            </a:r>
            <a:r>
              <a:rPr sz="1400" b="0" dirty="0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rPr>
              <a:t> – 11 </a:t>
            </a:r>
            <a:r>
              <a:rPr sz="1400" b="0" dirty="0" err="1">
                <a:solidFill>
                  <a:srgbClr val="D5E3F5"/>
                </a:solidFill>
                <a:latin typeface="Bitstream Charter"/>
                <a:ea typeface="Bitstream Charter"/>
                <a:cs typeface="Bitstream Charter"/>
              </a:rPr>
              <a:t>dic</a:t>
            </a:r>
            <a:endParaRPr sz="1400" b="0" dirty="0">
              <a:solidFill>
                <a:srgbClr val="D5E3F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926D6E8-79C4-41D7-B2D1-79333A48F228}"/>
              </a:ext>
            </a:extLst>
          </p:cNvPr>
          <p:cNvSpPr>
            <a:spLocks noGrp="1"/>
          </p:cNvSpPr>
          <p:nvPr/>
        </p:nvSpPr>
        <p:spPr>
          <a:xfrm>
            <a:off x="8305800" y="3095625"/>
            <a:ext cx="2705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Calidad y entrega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1BFFAD6-DE99-4BBA-8AB6-F1AD71B694C2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27051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QA final,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correcciones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documentación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evidencias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presentación</a:t>
            </a:r>
            <a:r>
              <a:rPr sz="1400" b="0" dirty="0">
                <a:solidFill>
                  <a:srgbClr val="E3ECF9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C9DE4B6-1F9A-4747-B953-526F709B577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Seguimiento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semanal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jueves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Product Backlog ·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weeklys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retrospectivas</a:t>
            </a:r>
            <a:r>
              <a:rPr sz="1400" b="1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Carta Gantt · </a:t>
            </a:r>
            <a:r>
              <a:rPr sz="1400" b="1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evidencias</a:t>
            </a:r>
            <a:endParaRPr sz="1400" b="1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388A123-68D5-4078-A5D6-C589D2F73C41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5F3308-42D2-4F47-B079-66145EA4283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315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F7B12EE1-3CF0-4C1C-806D-DA617F7FD1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5" name="Imagen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5CEBF4A-9A12-4714-B692-E11D1B89CE70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MATRIZ RACI RESUMIDA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2C5626-758C-4B05-9AD2-9E0AA69EF430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Equipo y responsabilidades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F6EE37D-603C-4E7E-B2E8-FACDE7C188B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061B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F4512B-3B06-482D-BEBE-AFB852E494AB}"/>
              </a:ext>
            </a:extLst>
          </p:cNvPr>
          <p:cNvSpPr>
            <a:spLocks noGrp="1"/>
          </p:cNvSpPr>
          <p:nvPr/>
        </p:nvSpPr>
        <p:spPr>
          <a:xfrm>
            <a:off x="933450" y="17716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Felipe Chávez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144F83-C254-4942-96D6-69EC946E0A83}"/>
              </a:ext>
            </a:extLst>
          </p:cNvPr>
          <p:cNvSpPr>
            <a:spLocks noGrp="1"/>
          </p:cNvSpPr>
          <p:nvPr/>
        </p:nvSpPr>
        <p:spPr>
          <a:xfrm>
            <a:off x="3333750" y="17716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Jefe de Proyecto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3D041B-7DAF-45F6-B82F-5EA57889425F}"/>
              </a:ext>
            </a:extLst>
          </p:cNvPr>
          <p:cNvSpPr>
            <a:spLocks noGrp="1"/>
          </p:cNvSpPr>
          <p:nvPr/>
        </p:nvSpPr>
        <p:spPr>
          <a:xfrm>
            <a:off x="5715000" y="1752600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Dirección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alcance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prioridades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aceptación</a:t>
            </a:r>
            <a:endParaRPr sz="1400" b="0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E820112-5775-4218-BF33-DC63704AAAE6}"/>
              </a:ext>
            </a:extLst>
          </p:cNvPr>
          <p:cNvSpPr>
            <a:spLocks noGrp="1"/>
          </p:cNvSpPr>
          <p:nvPr/>
        </p:nvSpPr>
        <p:spPr>
          <a:xfrm>
            <a:off x="9791700" y="1847850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BB063F-9F0B-4037-AC86-EAA9589B6C91}"/>
              </a:ext>
            </a:extLst>
          </p:cNvPr>
          <p:cNvSpPr>
            <a:spLocks noGrp="1"/>
          </p:cNvSpPr>
          <p:nvPr/>
        </p:nvSpPr>
        <p:spPr>
          <a:xfrm>
            <a:off x="9925050" y="1847850"/>
            <a:ext cx="7334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 / A-R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326D184-1F89-4324-8EA8-E3242C4791D2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629C9E-1139-40B4-B0BB-2733560D2418}"/>
              </a:ext>
            </a:extLst>
          </p:cNvPr>
          <p:cNvSpPr>
            <a:spLocks noGrp="1"/>
          </p:cNvSpPr>
          <p:nvPr/>
        </p:nvSpPr>
        <p:spPr>
          <a:xfrm>
            <a:off x="933450" y="2771775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Vicente Palma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E57E3CC-9B27-47B4-9DB0-8B598622660F}"/>
              </a:ext>
            </a:extLst>
          </p:cNvPr>
          <p:cNvSpPr>
            <a:spLocks noGrp="1"/>
          </p:cNvSpPr>
          <p:nvPr/>
        </p:nvSpPr>
        <p:spPr>
          <a:xfrm>
            <a:off x="3333750" y="2771775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6"/>
          </a:bodyPr>
          <a:lstStyle/>
          <a:p>
            <a:pPr algn="l">
              <a:buNone/>
              <a:defRPr sz="135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Diseñador</a:t>
            </a: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/ </a:t>
            </a: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Desarrollador</a:t>
            </a:r>
            <a:endParaRPr sz="1400" b="1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6E145E-CC71-468A-8641-5DFD2163B9C7}"/>
              </a:ext>
            </a:extLst>
          </p:cNvPr>
          <p:cNvSpPr>
            <a:spLocks noGrp="1"/>
          </p:cNvSpPr>
          <p:nvPr/>
        </p:nvSpPr>
        <p:spPr>
          <a:xfrm>
            <a:off x="5715000" y="2752725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Diseño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UI/UX, frontend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apoyo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a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integración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FFF59B7-B083-4450-89D2-19FF475647CE}"/>
              </a:ext>
            </a:extLst>
          </p:cNvPr>
          <p:cNvSpPr>
            <a:spLocks noGrp="1"/>
          </p:cNvSpPr>
          <p:nvPr/>
        </p:nvSpPr>
        <p:spPr>
          <a:xfrm>
            <a:off x="9791700" y="2847975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10B8A99-A0DD-43AD-B4A8-CBD76E640D38}"/>
              </a:ext>
            </a:extLst>
          </p:cNvPr>
          <p:cNvSpPr>
            <a:spLocks noGrp="1"/>
          </p:cNvSpPr>
          <p:nvPr/>
        </p:nvSpPr>
        <p:spPr>
          <a:xfrm>
            <a:off x="9853612" y="2838450"/>
            <a:ext cx="8667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 </a:t>
            </a:r>
            <a:r>
              <a:rPr lang="es-CL"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iseño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D894007-6605-45ED-99DB-9B3A460C9123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CDC7034-38C7-452E-BB0B-0C528FF5BF53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Alonso Urrutia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EFF885A-1776-4356-AFED-CDBB829BB694}"/>
              </a:ext>
            </a:extLst>
          </p:cNvPr>
          <p:cNvSpPr>
            <a:spLocks noGrp="1"/>
          </p:cNvSpPr>
          <p:nvPr/>
        </p:nvSpPr>
        <p:spPr>
          <a:xfrm>
            <a:off x="3333750" y="377190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Desarrollador</a:t>
            </a:r>
            <a:endParaRPr sz="1400" b="1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B220D09-E027-4B01-A582-B64B20923C8C}"/>
              </a:ext>
            </a:extLst>
          </p:cNvPr>
          <p:cNvSpPr>
            <a:spLocks noGrp="1"/>
          </p:cNvSpPr>
          <p:nvPr/>
        </p:nvSpPr>
        <p:spPr>
          <a:xfrm>
            <a:off x="5715000" y="3752850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Backend,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módulos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e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integraciones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393B15E-C8E0-4659-B024-0C8FAA16EC3A}"/>
              </a:ext>
            </a:extLst>
          </p:cNvPr>
          <p:cNvSpPr>
            <a:spLocks noGrp="1"/>
          </p:cNvSpPr>
          <p:nvPr/>
        </p:nvSpPr>
        <p:spPr>
          <a:xfrm>
            <a:off x="9791700" y="3848100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91ED224-41C1-4A31-BAF2-9C633E1A384B}"/>
              </a:ext>
            </a:extLst>
          </p:cNvPr>
          <p:cNvSpPr>
            <a:spLocks noGrp="1"/>
          </p:cNvSpPr>
          <p:nvPr/>
        </p:nvSpPr>
        <p:spPr>
          <a:xfrm>
            <a:off x="9827420" y="3848100"/>
            <a:ext cx="919162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 </a:t>
            </a:r>
            <a:r>
              <a:rPr lang="es-CL"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T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écnico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3E7DD57-5415-4078-A611-0905A8B42BFF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CDBADDA-1333-41DF-969F-DA40D7E34033}"/>
              </a:ext>
            </a:extLst>
          </p:cNvPr>
          <p:cNvSpPr>
            <a:spLocks noGrp="1"/>
          </p:cNvSpPr>
          <p:nvPr/>
        </p:nvSpPr>
        <p:spPr>
          <a:xfrm>
            <a:off x="933450" y="4772025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Franco Miranda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376E194-CC30-480E-8F7D-4A9EAB126F24}"/>
              </a:ext>
            </a:extLst>
          </p:cNvPr>
          <p:cNvSpPr>
            <a:spLocks noGrp="1"/>
          </p:cNvSpPr>
          <p:nvPr/>
        </p:nvSpPr>
        <p:spPr>
          <a:xfrm>
            <a:off x="3333750" y="4772025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L"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Analista / Q</a:t>
            </a: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D728ABC-C97A-4B2A-A293-D6E981B167C7}"/>
              </a:ext>
            </a:extLst>
          </p:cNvPr>
          <p:cNvSpPr>
            <a:spLocks noGrp="1"/>
          </p:cNvSpPr>
          <p:nvPr/>
        </p:nvSpPr>
        <p:spPr>
          <a:xfrm>
            <a:off x="5715000" y="4752975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Planificación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ejecución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evidencia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CDFDF78C-0DAB-4506-BA8E-01F63ACA3245}"/>
              </a:ext>
            </a:extLst>
          </p:cNvPr>
          <p:cNvSpPr>
            <a:spLocks noGrp="1"/>
          </p:cNvSpPr>
          <p:nvPr/>
        </p:nvSpPr>
        <p:spPr>
          <a:xfrm>
            <a:off x="9791700" y="4848225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8EF80CD-978C-43B6-A924-80F34D094707}"/>
              </a:ext>
            </a:extLst>
          </p:cNvPr>
          <p:cNvSpPr>
            <a:spLocks noGrp="1"/>
          </p:cNvSpPr>
          <p:nvPr/>
        </p:nvSpPr>
        <p:spPr>
          <a:xfrm>
            <a:off x="9796272" y="4848225"/>
            <a:ext cx="10001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 </a:t>
            </a:r>
            <a:r>
              <a:rPr lang="es-CL"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alidad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BB27AF-FE03-4BDE-BCB2-BB53D06D998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A: </a:t>
            </a:r>
            <a:r>
              <a:rPr lang="es-CL" sz="140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prueba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R: </a:t>
            </a:r>
            <a:r>
              <a:rPr lang="es-CL" sz="140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jecuta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C: </a:t>
            </a:r>
            <a:r>
              <a:rPr lang="es-CL" sz="140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porta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información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· I: </a:t>
            </a:r>
            <a:r>
              <a:rPr lang="es-CL" sz="140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ecibe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información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B525C70-2F42-46C7-B42D-99808D545A94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A4B44FC-0A83-42DA-9E14-B9507790077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326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8EC0F4DF-E3AC-42FB-8DE9-71B8540525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Imagen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5EFC0DC-E89B-471D-A507-7377A35371E1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QA INTEGRADO AL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7F0B9F-AE39-4154-A88C-3CD147598D28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Calidad y validación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598B8E-2ABB-484B-8C9B-36787ACAA6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La Definition of Done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exige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funcionalidad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integrada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permisos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revisados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registradas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ausencia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defectos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críticos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conocidos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B468998-E6F3-4E12-884C-87FC0D618663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DCCF68-D72A-4CB6-A328-E59A3E4BEFD3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ctr">
              <a:buNone/>
              <a:defRPr sz="18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Pytest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2B55AA-4B0D-47C7-A470-D860C71069C2}"/>
              </a:ext>
            </a:extLst>
          </p:cNvPr>
          <p:cNvSpPr>
            <a:spLocks noGrp="1"/>
          </p:cNvSpPr>
          <p:nvPr/>
        </p:nvSpPr>
        <p:spPr>
          <a:xfrm>
            <a:off x="914400" y="3476625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automatizadas</a:t>
            </a:r>
            <a:endParaRPr sz="1400" b="1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644C65-F72E-45A5-B8FF-7B6252B03FC4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27051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Ejecuciones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resultados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cobertura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cuando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corresponde</a:t>
            </a:r>
            <a:endParaRPr sz="1400" b="0" dirty="0">
              <a:solidFill>
                <a:srgbClr val="5C6B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5D560F6-212D-46B8-9C04-0D7B4B9C07F3}"/>
              </a:ext>
            </a:extLst>
          </p:cNvPr>
          <p:cNvSpPr>
            <a:spLocks noGrp="1"/>
          </p:cNvSpPr>
          <p:nvPr/>
        </p:nvSpPr>
        <p:spPr>
          <a:xfrm>
            <a:off x="4352925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0B3A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CE2815A-6669-417D-8D4F-CAAB3503DC66}"/>
              </a:ext>
            </a:extLst>
          </p:cNvPr>
          <p:cNvSpPr>
            <a:spLocks noGrp="1"/>
          </p:cNvSpPr>
          <p:nvPr/>
        </p:nvSpPr>
        <p:spPr>
          <a:xfrm>
            <a:off x="4581525" y="29527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ctr">
              <a:buNone/>
              <a:defRPr sz="180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dirty="0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JMeter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13DC761-D34E-43D1-8A20-4C2CADEE8EDB}"/>
              </a:ext>
            </a:extLst>
          </p:cNvPr>
          <p:cNvSpPr>
            <a:spLocks noGrp="1"/>
          </p:cNvSpPr>
          <p:nvPr/>
        </p:nvSpPr>
        <p:spPr>
          <a:xfrm>
            <a:off x="4581525" y="3476625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Rendimiento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carga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326BE8-B750-4341-B95E-F758089403E4}"/>
              </a:ext>
            </a:extLst>
          </p:cNvPr>
          <p:cNvSpPr>
            <a:spLocks noGrp="1"/>
          </p:cNvSpPr>
          <p:nvPr/>
        </p:nvSpPr>
        <p:spPr>
          <a:xfrm>
            <a:off x="4619625" y="3924300"/>
            <a:ext cx="27051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Tiempos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latencia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throughput,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errores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cantidad</a:t>
            </a:r>
            <a:r>
              <a:rPr sz="1400" b="0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muestras</a:t>
            </a:r>
            <a:endParaRPr sz="1400" b="0" dirty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15BC7E1-4EF7-49A4-8221-C2802763FBF3}"/>
              </a:ext>
            </a:extLst>
          </p:cNvPr>
          <p:cNvSpPr>
            <a:spLocks noGrp="1"/>
          </p:cNvSpPr>
          <p:nvPr/>
        </p:nvSpPr>
        <p:spPr>
          <a:xfrm>
            <a:off x="8020050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EEF4F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28C4E87-06B6-4A14-B44A-99A6DD016165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ctr">
              <a:buNone/>
              <a:defRPr sz="18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8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manuales</a:t>
            </a:r>
            <a:endParaRPr sz="18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7341A8D-8BE4-4DCE-8A9B-45020AF1282C}"/>
              </a:ext>
            </a:extLst>
          </p:cNvPr>
          <p:cNvSpPr>
            <a:spLocks noGrp="1"/>
          </p:cNvSpPr>
          <p:nvPr/>
        </p:nvSpPr>
        <p:spPr>
          <a:xfrm>
            <a:off x="8248650" y="3476625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Recorridos</a:t>
            </a: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funcionales</a:t>
            </a:r>
            <a:endParaRPr sz="1400" b="1" dirty="0">
              <a:solidFill>
                <a:srgbClr val="0B3A8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13F80F0-315A-44E9-9498-95E2A457F31D}"/>
              </a:ext>
            </a:extLst>
          </p:cNvPr>
          <p:cNvSpPr>
            <a:spLocks noGrp="1"/>
          </p:cNvSpPr>
          <p:nvPr/>
        </p:nvSpPr>
        <p:spPr>
          <a:xfrm>
            <a:off x="8286750" y="3924300"/>
            <a:ext cx="27051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Permisos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consistencia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integraciones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evidencia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visual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770BFB6-C810-454C-A750-0420A595DE85}"/>
              </a:ext>
            </a:extLst>
          </p:cNvPr>
          <p:cNvSpPr>
            <a:spLocks noGrp="1"/>
          </p:cNvSpPr>
          <p:nvPr/>
        </p:nvSpPr>
        <p:spPr>
          <a:xfrm>
            <a:off x="3714750" y="542925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47C9941-37AD-4CF8-8409-125CC58EA382}"/>
              </a:ext>
            </a:extLst>
          </p:cNvPr>
          <p:cNvSpPr>
            <a:spLocks noGrp="1"/>
          </p:cNvSpPr>
          <p:nvPr/>
        </p:nvSpPr>
        <p:spPr>
          <a:xfrm>
            <a:off x="3848100" y="542925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QA continuo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durante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el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desarrollo</a:t>
            </a:r>
            <a:endParaRPr sz="140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EA766F5-E961-48E9-8B89-E3BA3156D877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l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0375C89-A948-4D31-B693-26810188B05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algn="r">
              <a:buNone/>
              <a:def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966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B67AC23-3605-49B6-9F56-00496566D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2" name="Imagen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DFC2E8E-A457-499C-BAC0-3C179D5C78A4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9D2"/>
                </a:solidFill>
                <a:latin typeface="Bitstream Charter"/>
                <a:ea typeface="Bitstream Charter"/>
                <a:cs typeface="Bitstream Charter"/>
              </a:rPr>
              <a:t>FINANCIAMIENTO DEL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AB3D54-0F9E-491C-94C0-CFFABD67F3BA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Hitos</a:t>
            </a:r>
            <a:r>
              <a:rPr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pago</a:t>
            </a:r>
            <a:r>
              <a:rPr sz="25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25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presupuesto</a:t>
            </a:r>
            <a:endParaRPr sz="2550" b="1" dirty="0">
              <a:solidFill>
                <a:srgbClr val="061B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F77AE1-B779-4AB6-8EAB-D220B93633D4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Los $100.000.000</a:t>
            </a:r>
            <a:r>
              <a:rPr lang="es-CL"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se dividieron de forma equitativa y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se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recib</a:t>
            </a:r>
            <a:r>
              <a:rPr lang="es-CL"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iran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al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inicio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cada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sprint y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financia</a:t>
            </a:r>
            <a:r>
              <a:rPr lang="es-CL"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ran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las 18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semanas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65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desarrollo</a:t>
            </a:r>
            <a:r>
              <a:rPr sz="165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B4CECBB-63E7-43C4-8739-C2894999A6D9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0382250" cy="3476625"/>
          </a:xfrm>
          <a:prstGeom prst="roundRect">
            <a:avLst>
              <a:gd name="adj" fmla="val 9231"/>
            </a:avLst>
          </a:prstGeom>
          <a:solidFill>
            <a:srgbClr val="EEF4F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2B6D7C-8D57-42F2-B99B-477872AE69B7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B3A82"/>
                </a:solidFill>
                <a:latin typeface="Bitstream Charter"/>
                <a:ea typeface="Bitstream Charter"/>
                <a:cs typeface="Bitstream Charter"/>
              </a:rPr>
              <a:t>PAGOS AL INICIO DE CADA SPRINT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50CC467-6FA0-4F6D-9074-78231588BC37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9715500" cy="28575"/>
          </a:xfrm>
          <a:prstGeom prst="roundRect">
            <a:avLst>
              <a:gd name="adj" fmla="val 33333"/>
            </a:avLst>
          </a:prstGeom>
          <a:solidFill>
            <a:srgbClr val="C9D8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05599FF-EC32-44F5-BF75-9CD9D4824BAB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0B3A82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SPRINT 1</a:t>
            </a:r>
            <a:endParaRPr sz="1400" dirty="0"/>
          </a:p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$40.000.000</a:t>
            </a:r>
            <a:endParaRPr sz="1400" dirty="0"/>
          </a:p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Inicio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semana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1</a:t>
            </a:r>
            <a:endParaRPr sz="14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C2F1D4A-954A-4874-9655-C17E3250E382}"/>
              </a:ext>
            </a:extLst>
          </p:cNvPr>
          <p:cNvSpPr>
            <a:spLocks noGrp="1"/>
          </p:cNvSpPr>
          <p:nvPr/>
        </p:nvSpPr>
        <p:spPr>
          <a:xfrm>
            <a:off x="42386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FFD21A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3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SPRINT 2</a:t>
            </a:r>
            <a:endParaRPr sz="1400" dirty="0"/>
          </a:p>
          <a:p>
            <a:pPr algn="ctr">
              <a:defRPr sz="13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$35.000.000</a:t>
            </a:r>
            <a:endParaRPr sz="1400" dirty="0"/>
          </a:p>
          <a:p>
            <a:pPr algn="ctr">
              <a:defRPr sz="135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Inicio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semana</a:t>
            </a: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 9</a:t>
            </a:r>
            <a:endParaRPr sz="14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2F01A7E-265B-4C0E-9A77-FC9972D1E9D7}"/>
              </a:ext>
            </a:extLst>
          </p:cNvPr>
          <p:cNvSpPr>
            <a:spLocks noGrp="1"/>
          </p:cNvSpPr>
          <p:nvPr/>
        </p:nvSpPr>
        <p:spPr>
          <a:xfrm>
            <a:off x="74771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061B4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SPRINT 3</a:t>
            </a:r>
            <a:endParaRPr sz="1400" dirty="0"/>
          </a:p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$25.000.000</a:t>
            </a:r>
            <a:endParaRPr sz="1400" dirty="0"/>
          </a:p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Inicio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semana</a:t>
            </a:r>
            <a:r>
              <a:rPr sz="140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15</a:t>
            </a:r>
            <a:endParaRPr sz="14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1DC5F8A-624B-424C-AB5D-2CA229509196}"/>
              </a:ext>
            </a:extLst>
          </p:cNvPr>
          <p:cNvSpPr>
            <a:spLocks noGrp="1"/>
          </p:cNvSpPr>
          <p:nvPr/>
        </p:nvSpPr>
        <p:spPr>
          <a:xfrm>
            <a:off x="2000250" y="4191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8EC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PRESUPUESTO INICIAL</a:t>
            </a:r>
            <a:endParaRPr dirty="0"/>
          </a:p>
          <a:p>
            <a:pPr algn="ctr"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$100.000.000</a:t>
            </a:r>
            <a:endParaRPr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6E06556-54CE-4067-AD05-B36A1F147094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FD21A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COSTO FINAL</a:t>
            </a:r>
            <a:endParaRPr dirty="0"/>
          </a:p>
          <a:p>
            <a:pPr algn="ctr">
              <a:defRPr sz="15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$85.783.038</a:t>
            </a:r>
            <a:endParaRPr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6EBB46-D0C3-47C7-8819-C5CFEEF05D41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El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proyecto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utilizó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el 85,8% del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presupuesto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mantuvo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un </a:t>
            </a:r>
            <a:r>
              <a:rPr sz="1400" b="0" dirty="0" err="1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saldo</a:t>
            </a:r>
            <a:r>
              <a:rPr sz="1400" b="0" dirty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 de $14.216.962.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2F7A34A-44E3-4FFB-9A89-425660B89779}"/>
              </a:ext>
            </a:extLst>
          </p:cNvPr>
          <p:cNvSpPr>
            <a:spLocks noGrp="1"/>
          </p:cNvSpPr>
          <p:nvPr/>
        </p:nvSpPr>
        <p:spPr>
          <a:xfrm>
            <a:off x="4476750" y="5810250"/>
            <a:ext cx="3238500" cy="3810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CB85E0C-6C82-4B62-B292-F62D985BB310}"/>
              </a:ext>
            </a:extLst>
          </p:cNvPr>
          <p:cNvSpPr>
            <a:spLocks noGrp="1"/>
          </p:cNvSpPr>
          <p:nvPr/>
        </p:nvSpPr>
        <p:spPr>
          <a:xfrm>
            <a:off x="4572000" y="58102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00" b="1" dirty="0">
                <a:solidFill>
                  <a:srgbClr val="061B47"/>
                </a:solidFill>
                <a:latin typeface="Bitstream Charter"/>
                <a:ea typeface="Bitstream Charter"/>
                <a:cs typeface="Bitstream Charter"/>
              </a:rPr>
              <a:t>SALDO FINAL  $14.216.962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7A6356-E0D2-415A-8CA0-7131D6EE8701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FBA0502-F5E1-47CD-95AB-C1117D334E3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C6B82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215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82E1775-57B6-4165-A4BD-AC1EA809E79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4BCABB-326B-40C7-B23B-3A3BE328672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Conclusión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E1DEA58-356F-443A-ABB4-1143942162CA}"/>
              </a:ext>
            </a:extLst>
          </p:cNvPr>
          <p:cNvSpPr>
            <a:spLocks noGrp="1"/>
          </p:cNvSpPr>
          <p:nvPr/>
        </p:nvSpPr>
        <p:spPr>
          <a:xfrm>
            <a:off x="3667125" y="876300"/>
            <a:ext cx="4857750" cy="2533650"/>
          </a:xfrm>
          <a:prstGeom prst="roundRect">
            <a:avLst>
              <a:gd name="adj" fmla="val 1127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0" y="1004628"/>
            <a:ext cx="4572000" cy="227699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9E1895F-4F25-4307-BB97-F06E6233298C}"/>
              </a:ext>
            </a:extLst>
          </p:cNvPr>
          <p:cNvSpPr>
            <a:spLocks noGrp="1"/>
          </p:cNvSpPr>
          <p:nvPr/>
        </p:nvSpPr>
        <p:spPr>
          <a:xfrm>
            <a:off x="1428750" y="3667125"/>
            <a:ext cx="93345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SFI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concentra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sola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plataforma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ecommerce, el control de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inventario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pagos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la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asistencia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con IA y la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promoción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maestros. Su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desarrollo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durante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18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semanas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permiti</a:t>
            </a:r>
            <a:r>
              <a:rPr lang="es-CL"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construir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solución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alineada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con las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necesidades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Grupo Punto Obra,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respaldada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por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gestión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Scrum y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calidad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. El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proyecto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finaliza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dentro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presupuesto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deja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base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preparada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para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operación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mantención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650" b="1" dirty="0" err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crecimiento</a:t>
            </a:r>
            <a:r>
              <a:rPr sz="1650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5054EAF-F62B-4A6D-9D89-0BA38D115F30}"/>
              </a:ext>
            </a:extLst>
          </p:cNvPr>
          <p:cNvSpPr>
            <a:spLocks noGrp="1"/>
          </p:cNvSpPr>
          <p:nvPr/>
        </p:nvSpPr>
        <p:spPr>
          <a:xfrm>
            <a:off x="3905250" y="5334000"/>
            <a:ext cx="4381500" cy="381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CF277AC-6B40-4FD3-AC24-42814D89E7A2}"/>
              </a:ext>
            </a:extLst>
          </p:cNvPr>
          <p:cNvSpPr>
            <a:spLocks noGrp="1"/>
          </p:cNvSpPr>
          <p:nvPr/>
        </p:nvSpPr>
        <p:spPr>
          <a:xfrm>
            <a:off x="3714750" y="561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D21A"/>
                </a:solidFill>
                <a:latin typeface="Bitstream Charter"/>
                <a:ea typeface="Bitstream Charter"/>
                <a:cs typeface="Bitstream Charter"/>
              </a:rPr>
              <a:t>Sistema Ferretero Inteligente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7CACE7-7C94-4675-95F6-9099F06DEDAD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SFI  |  PRESENTACIÓN DEL PROYECTO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D421838-3330-4764-942B-EAFE2721197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7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060489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1069</Words>
  <Application>Microsoft Office PowerPoint</Application>
  <DocSecurity>0</DocSecurity>
  <PresentationFormat>Panorámica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Bitstream Charter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IGNACIO CHAVEZ SALINAS</cp:lastModifiedBy>
  <cp:revision>3</cp:revision>
  <dcterms:created xsi:type="dcterms:W3CDTF">2026-09-10T19:04:04Z</dcterms:created>
  <dcterms:modified xsi:type="dcterms:W3CDTF">2026-09-11T01:43:06Z</dcterms:modified>
</cp:coreProperties>
</file>