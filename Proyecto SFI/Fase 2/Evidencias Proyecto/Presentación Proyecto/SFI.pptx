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uCGLL1XT82PIcX8kL9idGh51n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4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486149" y="838200"/>
            <a:ext cx="5219700" cy="2686050"/>
          </a:xfrm>
          <a:prstGeom prst="roundRect">
            <a:avLst>
              <a:gd name="adj" fmla="val 99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28831" y="952500"/>
            <a:ext cx="4934337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5491352" y="4056697"/>
            <a:ext cx="160439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50"/>
              <a:buFont typeface="Arial"/>
              <a:buNone/>
            </a:pPr>
            <a:r>
              <a:rPr lang="es-CL" sz="1650" b="0" dirty="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sz="1650" b="0" dirty="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46662" y="4417694"/>
            <a:ext cx="3098676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Chávez - Alonso Urrutia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s-CL" sz="16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Vicente Palma - Franco Miranda</a:t>
            </a:r>
            <a:endParaRPr sz="1600" b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7700" y="63246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FC6E8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AFC6E8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AFC6E8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AFC6E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1944350" y="0"/>
            <a:ext cx="2476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563168" y="6134100"/>
            <a:ext cx="153180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00"/>
              <a:buFont typeface="Arial"/>
              <a:buNone/>
            </a:pPr>
            <a:r>
              <a:rPr lang="es-CL" sz="1600" b="0" dirty="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Sección: 003D</a:t>
            </a:r>
            <a:endParaRPr sz="1600" b="0" dirty="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274570" y="6153150"/>
            <a:ext cx="289769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AF2"/>
              </a:buClr>
              <a:buSzPts val="1600"/>
              <a:buFont typeface="Arial"/>
              <a:buNone/>
            </a:pPr>
            <a:r>
              <a:rPr lang="es-CL" sz="1600" b="0" dirty="0">
                <a:solidFill>
                  <a:srgbClr val="C9DAF2"/>
                </a:solidFill>
                <a:latin typeface="Arial"/>
                <a:ea typeface="Arial"/>
                <a:cs typeface="Arial"/>
                <a:sym typeface="Arial"/>
              </a:rPr>
              <a:t>Docente: Juan Alberto Gana</a:t>
            </a:r>
            <a:endParaRPr sz="1600" b="0" dirty="0">
              <a:solidFill>
                <a:srgbClr val="C9DAF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762000" y="3619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EMPRESA MANDANTE</a:t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62000" y="6858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sz="255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14286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29"/>
            <a:ext cx="1428750" cy="71151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904875" y="1666875"/>
            <a:ext cx="10382250" cy="3333750"/>
          </a:xfrm>
          <a:prstGeom prst="roundRect">
            <a:avLst>
              <a:gd name="adj" fmla="val 9032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047750" y="2047875"/>
            <a:ext cx="10096500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Grupo Punto Obra SpA comercializa y distribuye materiales de construcción, herramientas y productos para el mejoramiento del hogar. La empresa opera sucursales en Quilicura, Huechuraba y Santiago Centro, junto con una bodega central ubicada en Quilicura.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La organización identificó la necesidad de modernizar su canal de venta y concentrar en una sola plataforma el catálogo, inventario, ventas, pagos y atención al cliente. Para responder a esta necesidad, adquirió y financió SFI, con un presupuesto de 100 millones de pesos (2445,36 UF), una solución que incorpora ecommerce, asistencia mediante inteligencia artificial y promoción de maestros.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POR QUÉ SFI</a:t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Problema y oportunidad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66750" y="16668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66750" y="16668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295400" y="16668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Compra sin Guia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295400" y="19526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Muchos clientes conocen el proyecto que quieren realizar, pero no identifican materiales, cantidades o alternativas.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6750" y="30003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6750" y="30003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95400" y="30003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Información fragmentada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1295400" y="32861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Catálogo, stock, venta, reposición y apoyo al cliente suelen funcionar como procesos separados.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66750" y="433387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66750" y="433387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295400" y="4333875"/>
            <a:ext cx="441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Profesionales con poca visibilidad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295400" y="4619625"/>
            <a:ext cx="44196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Los maestros necesitan un espacio donde mostrar especialidades y portafolio frente a clientes interesados.</a:t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6667500" y="1714500"/>
            <a:ext cx="4286250" cy="3524250"/>
          </a:xfrm>
          <a:prstGeom prst="roundRect">
            <a:avLst>
              <a:gd name="adj" fmla="val 7568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7143750" y="20955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800"/>
              <a:buFont typeface="Arial"/>
              <a:buNone/>
            </a:pPr>
            <a:r>
              <a:rPr lang="es-CL" sz="1800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143750" y="2762250"/>
            <a:ext cx="33337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6"/>
              <a:buFont typeface="Arial"/>
              <a:buNone/>
            </a:pPr>
            <a:r>
              <a:rPr lang="es-CL" sz="1946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Concentrar el recorrido digital en una sola plataforma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286625" y="3857625"/>
            <a:ext cx="3048000" cy="1905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39000" y="4095750"/>
            <a:ext cx="31432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500"/>
              <a:buFont typeface="Arial"/>
              <a:buNone/>
            </a:pPr>
            <a:r>
              <a:rPr lang="es-CL" sz="1500" b="0">
                <a:solidFill>
                  <a:srgbClr val="D6E4F7"/>
                </a:solidFill>
                <a:latin typeface="Arial"/>
                <a:ea typeface="Arial"/>
                <a:cs typeface="Arial"/>
                <a:sym typeface="Arial"/>
              </a:rPr>
              <a:t>Más orientación para el cliente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500"/>
              <a:buFont typeface="Arial"/>
              <a:buNone/>
            </a:pPr>
            <a:r>
              <a:rPr lang="es-CL" sz="1500" b="0">
                <a:solidFill>
                  <a:srgbClr val="D6E4F7"/>
                </a:solidFill>
                <a:latin typeface="Arial"/>
                <a:ea typeface="Arial"/>
                <a:cs typeface="Arial"/>
                <a:sym typeface="Arial"/>
              </a:rPr>
              <a:t>Más control para la ferretería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EXPERIENCIA PROPUESTA</a:t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Cómo funciona SFI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85800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26770" y="2143125"/>
            <a:ext cx="175641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12"/>
              <a:buFont typeface="Arial"/>
              <a:buNone/>
            </a:pPr>
            <a:r>
              <a:rPr lang="es-CL" sz="1513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1. Idea o Necesidad</a:t>
            </a:r>
            <a:endParaRPr sz="1513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947928" y="3085718"/>
            <a:ext cx="1614678" cy="76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cliente explica lo que quiere construir o reparar.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9535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143250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543680" y="2130171"/>
            <a:ext cx="123748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2. Asistencia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176587" y="2992183"/>
            <a:ext cx="197167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IA orienta y relaciona la necesidad con materiales del catálogo.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35280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19368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993130" y="2201608"/>
            <a:ext cx="1047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3. Compra</a:t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5915785" y="3102101"/>
            <a:ext cx="1445515" cy="891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usuario revisa productos, stock, carrito y pago electrónico.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81025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095486" y="1857375"/>
            <a:ext cx="2038350" cy="29527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341995" y="2146554"/>
            <a:ext cx="147066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4. Continuidad</a:t>
            </a:r>
            <a:endParaRPr sz="1575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41995" y="2979799"/>
            <a:ext cx="1619250" cy="113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295"/>
              <a:buFont typeface="Arial"/>
              <a:buNone/>
            </a:pPr>
            <a:r>
              <a:rPr lang="es-CL" sz="1295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La ferretería registra venta e inventario. El cliente puede consultar maestros.</a:t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8267700" y="44767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85800" y="542925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53"/>
              <a:buFont typeface="Arial"/>
              <a:buNone/>
            </a:pPr>
            <a:r>
              <a:rPr lang="es-CL" sz="1753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El resultado es un recorrido coherente, con reglas críticas controladas desde el backend.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5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QUÉ INCLUYE Y QUÉ LIMITA</a:t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Alcance del producto</a:t>
            </a:r>
            <a:endParaRPr sz="255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85800" y="15716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0A36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20A36A"/>
                </a:solidFill>
                <a:latin typeface="Arial"/>
                <a:ea typeface="Arial"/>
                <a:cs typeface="Arial"/>
                <a:sym typeface="Arial"/>
              </a:rPr>
              <a:t>INCLUYE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572250" y="1571625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14A4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D14A4A"/>
                </a:solidFill>
                <a:latin typeface="Arial"/>
                <a:ea typeface="Arial"/>
                <a:cs typeface="Arial"/>
                <a:sym typeface="Arial"/>
              </a:rPr>
              <a:t>FUERA DEL ALCANCE</a:t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85800" y="2095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52500" y="197167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Usuarios, perfiles, roles y permisos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85800" y="2714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52500" y="259080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Catálogo, ofertas, carrito, ventas y pago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5800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952500" y="32099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Stock, proveedores, reposición y Kardex</a:t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85800" y="3952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52500" y="38290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Asistencia con IA y perfiles de maestros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685800" y="4572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0A36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52500" y="444817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Administración, pruebas y documentación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6572250" y="2095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838950" y="197167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Contratación formal o pago de servicios a maestros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572250" y="27146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838950" y="2590800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Negociación, garantías o mediación de disputas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572250" y="3333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838950" y="320992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Contabilidad, remuneraciones y gestión tributaria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572250" y="39528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838950" y="3829050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Aplicación móvil nativa independiente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572250" y="4572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D14A4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38950" y="4448175"/>
            <a:ext cx="466725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213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15213A"/>
                </a:solidFill>
                <a:latin typeface="Arial"/>
                <a:ea typeface="Arial"/>
                <a:cs typeface="Arial"/>
                <a:sym typeface="Arial"/>
              </a:rPr>
              <a:t>Migración masiva de los datos historicos</a:t>
            </a:r>
            <a:endParaRPr sz="1400" b="1">
              <a:solidFill>
                <a:srgbClr val="1521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5800" y="5486400"/>
            <a:ext cx="10382250" cy="457200"/>
          </a:xfrm>
          <a:prstGeom prst="roundRect">
            <a:avLst>
              <a:gd name="adj" fmla="val 29167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95350" y="5524500"/>
            <a:ext cx="99631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SFI promociona maestros. Cliente y profesional coordinan externamente precios, fechas y ejecución de la obra.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Módulos principales</a:t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66750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76300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76300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Acceso, perfiles y permisos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381375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590925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Catálogo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590925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Productos, categorías y ofertas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096000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305550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Ventas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305550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Carrito, pago, boleta e historial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810625" y="1666875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9020175" y="1857375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Inventario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020175" y="2362200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Stock, proveedores y Kardex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666750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76300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876300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Orientación y sugerencias de compra</a:t>
            </a:r>
            <a:endParaRPr sz="1400" b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3381375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590925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Maestros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3590925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Perfiles, especialidades y visibilidad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096000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305550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Despachos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305550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Retiros, entrega y estados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810625" y="3619500"/>
            <a:ext cx="2333625" cy="1524000"/>
          </a:xfrm>
          <a:prstGeom prst="roundRect">
            <a:avLst>
              <a:gd name="adj" fmla="val 1375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020175" y="3810000"/>
            <a:ext cx="1905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020175" y="4314825"/>
            <a:ext cx="190500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Gestión interna según rol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DJANGO MVT Y MYSQL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Arquitectura de la solución</a:t>
            </a:r>
            <a:endParaRPr sz="255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85800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952500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sz="1725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52500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HTML · CSS · JavaScript · Django Templates</a:t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4352925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619625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Aplicación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619625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URLs · Views · Forms · servicios · reglas de negocio</a:t>
            </a:r>
            <a:endParaRPr sz="1400" b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020050" y="1857375"/>
            <a:ext cx="3238500" cy="1619250"/>
          </a:xfrm>
          <a:prstGeom prst="roundRect">
            <a:avLst>
              <a:gd name="adj" fmla="val 12941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286750" y="2095500"/>
            <a:ext cx="27051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lang="es-CL" sz="172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286750" y="2628900"/>
            <a:ext cx="27051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 · Django ORM · migraciones · MySQL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85800" y="409575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87"/>
              <a:buFont typeface="Arial"/>
              <a:buNone/>
            </a:pPr>
            <a:r>
              <a:rPr lang="es-CL" sz="1587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Integraciones controladas por el backend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85800" y="4667250"/>
            <a:ext cx="1714500" cy="3429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19150" y="4667250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Webpay Plus</a:t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571750" y="4667250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705100" y="4667250"/>
            <a:ext cx="1066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Correo</a:t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4076700" y="4667250"/>
            <a:ext cx="1809750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210050" y="4667250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Servicios de IA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6572250" y="4114800"/>
            <a:ext cx="4305300" cy="1285875"/>
          </a:xfrm>
          <a:prstGeom prst="roundRect">
            <a:avLst>
              <a:gd name="adj" fmla="val 14815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858000" y="4305300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400" b="1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858000" y="4686300"/>
            <a:ext cx="40195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Sesiones y permisos · CSRF · validación en servidor · secretos por entorno · HTTPS en producción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HERRAMIENTAS SELECCIONADAS</a:t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953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667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9429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048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 ORM</a:t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28194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29908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2670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0289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Migraciones</a:t>
            </a:r>
            <a:endParaRPr sz="1575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Modelos relacionales</a:t>
            </a:r>
            <a:endParaRPr sz="1575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51435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3149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5911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3530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4676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76390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79152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76771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Pytest</a:t>
            </a:r>
            <a:endParaRPr sz="157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Apache JMeter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 manuales</a:t>
            </a:r>
            <a:endParaRPr sz="1575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9791700" y="1762125"/>
            <a:ext cx="2038350" cy="3143250"/>
          </a:xfrm>
          <a:prstGeom prst="roundRect">
            <a:avLst>
              <a:gd name="adj" fmla="val 11215"/>
            </a:avLst>
          </a:prstGeom>
          <a:solidFill>
            <a:srgbClr val="D9E9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963150" y="2038350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25"/>
              <a:buFont typeface="Arial"/>
              <a:buNone/>
            </a:pPr>
            <a:r>
              <a:rPr lang="es-CL" sz="112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COLABORACIÓN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0239375" y="2505075"/>
            <a:ext cx="1143000" cy="28575"/>
          </a:xfrm>
          <a:prstGeom prst="roundRect">
            <a:avLst>
              <a:gd name="adj" fmla="val 33333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10001250" y="2781300"/>
            <a:ext cx="161925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75"/>
              <a:buFont typeface="Arial"/>
              <a:buNone/>
            </a:pPr>
            <a:r>
              <a:rPr lang="es-CL" sz="15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666750" y="5429250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500"/>
              <a:buFont typeface="Arial"/>
              <a:buNone/>
            </a:pPr>
            <a:r>
              <a:rPr lang="es-CL" sz="15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Configuración reproducible mediante entorno virtual, requirements.txt y variables de entorno.</a:t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18 SEMANAS Y 3 SPRINTS</a:t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Plan de trabajo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8580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5250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8"/>
              <a:buFont typeface="Arial"/>
              <a:buNone/>
            </a:pPr>
            <a:r>
              <a:rPr lang="es-CL" sz="1649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278130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115"/>
              <a:buFont typeface="Arial"/>
              <a:buNone/>
            </a:pPr>
            <a:r>
              <a:rPr lang="es-CL" sz="1116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8 semanas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95250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5E3F5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D5E3F5"/>
                </a:solidFill>
                <a:latin typeface="Arial"/>
                <a:ea typeface="Arial"/>
                <a:cs typeface="Arial"/>
                <a:sym typeface="Arial"/>
              </a:rPr>
              <a:t>10 ago – 2 oct</a:t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95250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lang="es-CL" sz="18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Base del ecommerce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95250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CF9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E3ECF9"/>
                </a:solidFill>
                <a:latin typeface="Arial"/>
                <a:ea typeface="Arial"/>
                <a:cs typeface="Arial"/>
                <a:sym typeface="Arial"/>
              </a:rPr>
              <a:t>Requerimientos, cuentas, CRUD, frontend, backend, carrito y Webpay Plus.</a:t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36245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62915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648"/>
              <a:buFont typeface="Arial"/>
              <a:buNone/>
            </a:pPr>
            <a:r>
              <a:rPr lang="es-CL" sz="1649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45795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115"/>
              <a:buFont typeface="Arial"/>
              <a:buNone/>
            </a:pPr>
            <a:r>
              <a:rPr lang="es-CL" sz="1116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6 semanas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62915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5 oct – 13 nov</a:t>
            </a:r>
            <a:endParaRPr sz="1400" b="0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462915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875"/>
              <a:buFont typeface="Arial"/>
              <a:buNone/>
            </a:pPr>
            <a:r>
              <a:rPr lang="es-CL" sz="18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Funciones avanzadas</a:t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462915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IA, stock y Kardex, maestros, sugerencias de compra, mejoras y despachos.</a:t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039100" y="1809750"/>
            <a:ext cx="3238500" cy="3476625"/>
          </a:xfrm>
          <a:prstGeom prst="roundRect">
            <a:avLst>
              <a:gd name="adj" fmla="val 7647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305800" y="2076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8"/>
              <a:buFont typeface="Arial"/>
              <a:buNone/>
            </a:pPr>
            <a:r>
              <a:rPr lang="es-CL" sz="1649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10134600" y="20955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115"/>
              <a:buFont typeface="Arial"/>
              <a:buNone/>
            </a:pPr>
            <a:r>
              <a:rPr lang="es-CL" sz="1116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4 semanas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305800" y="2543175"/>
            <a:ext cx="27051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5E3F5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D5E3F5"/>
                </a:solidFill>
                <a:latin typeface="Arial"/>
                <a:ea typeface="Arial"/>
                <a:cs typeface="Arial"/>
                <a:sym typeface="Arial"/>
              </a:rPr>
              <a:t>16 nov – 11 dic</a:t>
            </a:r>
            <a:endParaRPr sz="1400" b="0">
              <a:solidFill>
                <a:srgbClr val="D5E3F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305800" y="3095625"/>
            <a:ext cx="27051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lang="es-CL" sz="1875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Calidad y entrega</a:t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8305800" y="3810000"/>
            <a:ext cx="270510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3ECF9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E3ECF9"/>
                </a:solidFill>
                <a:latin typeface="Arial"/>
                <a:ea typeface="Arial"/>
                <a:cs typeface="Arial"/>
                <a:sym typeface="Arial"/>
              </a:rPr>
              <a:t>QA final, correcciones, documentación, evidencias y presentación.</a:t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685800" y="5619750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Seguimiento semanal los jueves · Product Backlog · weeklys · retrospectivas · Carta Gantt · evidencias</a:t>
            </a:r>
            <a:endParaRPr sz="1400" b="1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MATRIZ RACI RESUMIDA</a:t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Equipo y responsabilidades</a:t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685800" y="161925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933450" y="17716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s-CL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Felipe Chávez</a:t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333750" y="17716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Jefe de Proyecto</a:t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715000" y="1752600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Dirección, alcance, prioridades y aceptación</a:t>
            </a:r>
            <a:endParaRPr sz="1400" b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9791700" y="1847850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9925050" y="1847850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 / A-R</a:t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85800" y="2619375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33450" y="277177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Vicente Palma</a:t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3333750" y="277177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341"/>
              <a:buFont typeface="Arial"/>
              <a:buNone/>
            </a:pPr>
            <a:r>
              <a:rPr lang="es-CL" sz="1342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Diseñador / Desarrollador</a:t>
            </a:r>
            <a:endParaRPr sz="1342" b="1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715000" y="2752725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Diseño UI/UX, frontend y apoyo a integración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791700" y="2847975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853612" y="2838450"/>
            <a:ext cx="8667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Diseño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85800" y="361950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933450" y="37719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Alonso Urrutia</a:t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3333750" y="377190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Desarrollador</a:t>
            </a:r>
            <a:endParaRPr sz="1400" b="1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715000" y="3752850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Backend, datos, módulos e integraciones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791700" y="3848100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827420" y="3848100"/>
            <a:ext cx="9191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Técnico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85800" y="4610100"/>
            <a:ext cx="10382250" cy="800100"/>
          </a:xfrm>
          <a:prstGeom prst="roundRect">
            <a:avLst>
              <a:gd name="adj" fmla="val 21429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933450" y="477202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500"/>
              <a:buFont typeface="Arial"/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Franco Miranda</a:t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3333750" y="4772025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Analista / QA</a:t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715000" y="4752975"/>
            <a:ext cx="38576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Planificación, ejecución y evidencia de pruebas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791700" y="4848225"/>
            <a:ext cx="1000125" cy="3429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9796272" y="4848225"/>
            <a:ext cx="1000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 Calidad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85800" y="5810250"/>
            <a:ext cx="6667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A: Aprueba · R: Ejecuta · C: Aporta información · I: Recibe información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1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QA INTEGRADO AL PROYECTO</a:t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Calidad y validación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85800" y="1524000"/>
            <a:ext cx="10287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800"/>
              <a:buFont typeface="Arial"/>
              <a:buNone/>
            </a:pPr>
            <a:r>
              <a:rPr lang="es-CL" sz="18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La Definition of Done exige funcionalidad integrada, permisos revisados, pruebas registradas y ausencia de defectos críticos conocidos.</a:t>
            </a: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85800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914400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74"/>
              <a:buFont typeface="Arial"/>
              <a:buNone/>
            </a:pPr>
            <a:r>
              <a:rPr lang="es-CL" sz="17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Pytest</a:t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914400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Pruebas automatizadas</a:t>
            </a:r>
            <a:endParaRPr sz="1400" b="1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52500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Ejecuciones, resultados y cobertura cuando corresponde</a:t>
            </a:r>
            <a:endParaRPr sz="1400" b="0">
              <a:solidFill>
                <a:srgbClr val="5C6B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352925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581525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774"/>
              <a:buFont typeface="Arial"/>
              <a:buNone/>
            </a:pPr>
            <a:r>
              <a:rPr lang="es-CL" sz="1775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JMeter</a:t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581525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Rendimiento y carga</a:t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4619625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Tiempos, latencia, throughput, errores y cantidad de muestras</a:t>
            </a:r>
            <a:endParaRPr sz="1400" b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020050" y="2714625"/>
            <a:ext cx="3238500" cy="2238375"/>
          </a:xfrm>
          <a:prstGeom prst="roundRect">
            <a:avLst>
              <a:gd name="adj" fmla="val 10213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8248650" y="2952750"/>
            <a:ext cx="27813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774"/>
              <a:buFont typeface="Arial"/>
              <a:buNone/>
            </a:pPr>
            <a:r>
              <a:rPr lang="es-CL" sz="1775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Pruebas manuales</a:t>
            </a:r>
            <a:endParaRPr sz="1775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8248650" y="3476625"/>
            <a:ext cx="2781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Recorridos funcionales</a:t>
            </a:r>
            <a:endParaRPr sz="1400" b="1">
              <a:solidFill>
                <a:srgbClr val="0B3A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8286750" y="3924300"/>
            <a:ext cx="27051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Permisos, consistencia de datos, integraciones y evidencia visual</a:t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3714750" y="5429250"/>
            <a:ext cx="4762500" cy="3429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3848100" y="5429250"/>
            <a:ext cx="4495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QA continuo durante el desarrollo</a:t>
            </a:r>
            <a:endParaRPr sz="140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637"/>
              <a:buFont typeface="Arial"/>
              <a:buNone/>
            </a:pPr>
            <a:r>
              <a:rPr lang="es-CL" sz="638" b="1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2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FINANCIAMIENTO DEL PROYECTO</a:t>
            </a:r>
            <a:endParaRPr/>
          </a:p>
        </p:txBody>
      </p:sp>
      <p:sp>
        <p:nvSpPr>
          <p:cNvPr id="327" name="Google Shape;327;p12"/>
          <p:cNvSpPr/>
          <p:nvPr/>
        </p:nvSpPr>
        <p:spPr>
          <a:xfrm>
            <a:off x="666750" y="685800"/>
            <a:ext cx="923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Hitos de pago y presupuesto</a:t>
            </a:r>
            <a:endParaRPr sz="2550" b="1">
              <a:solidFill>
                <a:srgbClr val="061B4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85800" y="1381125"/>
            <a:ext cx="981075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650"/>
              <a:buFont typeface="Arial"/>
              <a:buNone/>
            </a:pPr>
            <a:r>
              <a:rPr lang="es-CL" sz="16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Los $100.000.000 se dividieron de forma equitativa y se recibiran al inicio de cada sprint y financiaran las 18 semanas de desarrollo.</a:t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85800" y="2143125"/>
            <a:ext cx="10382250" cy="3476625"/>
          </a:xfrm>
          <a:prstGeom prst="roundRect">
            <a:avLst>
              <a:gd name="adj" fmla="val 9231"/>
            </a:avLst>
          </a:prstGeom>
          <a:solidFill>
            <a:srgbClr val="EEF4F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1000125" y="2381250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3A82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PAGOS AL INICIO DE CADA SPRINT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1000125" y="2743200"/>
            <a:ext cx="9715500" cy="28575"/>
          </a:xfrm>
          <a:prstGeom prst="roundRect">
            <a:avLst>
              <a:gd name="adj" fmla="val 33333"/>
            </a:avLst>
          </a:prstGeom>
          <a:solidFill>
            <a:srgbClr val="C9D8E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10001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0B3A82"/>
          </a:solidFill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$40.000.000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Inicio semana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42386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SPRINT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$35.000.000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Inicio semana 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7477125" y="2905125"/>
            <a:ext cx="2762250" cy="1047750"/>
          </a:xfrm>
          <a:prstGeom prst="roundRect">
            <a:avLst>
              <a:gd name="adj" fmla="val 13333"/>
            </a:avLst>
          </a:prstGeom>
          <a:solidFill>
            <a:srgbClr val="061B47"/>
          </a:solidFill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$25.000.000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Inicio semana 15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000250" y="4191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 cap="flat" cmpd="sng">
            <a:solidFill>
              <a:srgbClr val="C9D8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6200" tIns="76200" rIns="76200" bIns="762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PRESUPUESTO INICIAL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$100.000.000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191250" y="4191000"/>
            <a:ext cx="3619500" cy="857250"/>
          </a:xfrm>
          <a:prstGeom prst="roundRect">
            <a:avLst>
              <a:gd name="adj" fmla="val 13333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76200" tIns="76200" rIns="76200" bIns="762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COSTO FINAL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$85.783.038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1143000" y="5191125"/>
            <a:ext cx="9906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1400"/>
              <a:buFont typeface="Arial"/>
              <a:buNone/>
            </a:pPr>
            <a:r>
              <a:rPr lang="es-CL" sz="14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proyecto utilizó el 85,8% del presupuesto y mantuvo un saldo de $14.216.962.</a:t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4476750" y="5810250"/>
            <a:ext cx="3238500" cy="3810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4572000" y="581025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1B47"/>
              </a:buClr>
              <a:buSzPts val="1400"/>
              <a:buFont typeface="Arial"/>
              <a:buNone/>
            </a:pPr>
            <a:r>
              <a:rPr lang="es-CL" sz="140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SALDO FINAL  $14.216.962</a:t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"/>
          <p:cNvSpPr/>
          <p:nvPr/>
        </p:nvSpPr>
        <p:spPr>
          <a:xfrm>
            <a:off x="666750" y="685800"/>
            <a:ext cx="10287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Modelo de negocio y presupuesto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85800" y="1581150"/>
            <a:ext cx="10001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$100.000.000 CLP</a:t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685800" y="2209800"/>
            <a:ext cx="10287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25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Presupuesto inicial para desarrollar la base de SFI durante 18 semanas.</a:t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685800" y="3143250"/>
            <a:ext cx="1028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25" b="1">
                <a:solidFill>
                  <a:srgbClr val="0B3A82"/>
                </a:solidFill>
                <a:latin typeface="Arial"/>
                <a:ea typeface="Arial"/>
                <a:cs typeface="Arial"/>
                <a:sym typeface="Arial"/>
              </a:rPr>
              <a:t>Venta a varios clientes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685800" y="3705225"/>
            <a:ext cx="10287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25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Comercializaremos SFI a distintas ferreterías y cadenas mediante una licencia e implementación para cada cliente.</a:t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685800" y="4619625"/>
            <a:ext cx="102870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25" b="0">
                <a:solidFill>
                  <a:srgbClr val="061B47"/>
                </a:solidFill>
                <a:latin typeface="Arial"/>
                <a:ea typeface="Arial"/>
                <a:cs typeface="Arial"/>
                <a:sym typeface="Arial"/>
              </a:rPr>
              <a:t>Reutilizaremos la plataforma y adaptaremos su configuración a cada empresa. Cada nueva venta considera sus propios costos de implementación y soporte.</a:t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685800" y="5610225"/>
            <a:ext cx="1028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El precio de venta por cliente se definirá según el alcance y los servicios contratados.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0" y="230007"/>
            <a:ext cx="1428750" cy="71156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4"/>
          <p:cNvSpPr/>
          <p:nvPr/>
        </p:nvSpPr>
        <p:spPr>
          <a:xfrm>
            <a:off x="666750" y="36195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69D2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1769D2"/>
                </a:solidFill>
                <a:latin typeface="Arial"/>
                <a:ea typeface="Arial"/>
                <a:cs typeface="Arial"/>
                <a:sym typeface="Arial"/>
              </a:rPr>
              <a:t>COMERCIALIZACIÓN DE SFI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C6B82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5C6B82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47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"/>
          <p:cNvSpPr/>
          <p:nvPr/>
        </p:nvSpPr>
        <p:spPr>
          <a:xfrm>
            <a:off x="685800" y="361950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975"/>
              <a:buFont typeface="Arial"/>
              <a:buNone/>
            </a:pPr>
            <a:r>
              <a:rPr lang="es-CL" sz="975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685800" y="6858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lang="es-CL" sz="25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3667125" y="876300"/>
            <a:ext cx="4857750" cy="2533650"/>
          </a:xfrm>
          <a:prstGeom prst="roundRect">
            <a:avLst>
              <a:gd name="adj" fmla="val 1127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0" y="1004628"/>
            <a:ext cx="4572000" cy="227699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3"/>
          <p:cNvSpPr/>
          <p:nvPr/>
        </p:nvSpPr>
        <p:spPr>
          <a:xfrm>
            <a:off x="1428750" y="3667125"/>
            <a:ext cx="9334500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s-CL" sz="165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SFI concentra en una sola plataforma ecommerce, el control de inventario, los pagos, la asistencia con IA y la promoción de maestros. Su desarrollo durante 18 semanas permitira construir una solución alineada con las necesidades de Grupo Punto Obra, respaldada por gestión Scrum y pruebas de calidad. El proyecto finaliza dentro del presupuesto y deja una base preparada para su operación, mantención y crecimiento.</a:t>
            </a:r>
            <a:endParaRPr/>
          </a:p>
        </p:txBody>
      </p:sp>
      <p:sp>
        <p:nvSpPr>
          <p:cNvPr id="368" name="Google Shape;368;p13"/>
          <p:cNvSpPr/>
          <p:nvPr/>
        </p:nvSpPr>
        <p:spPr>
          <a:xfrm>
            <a:off x="3905250" y="5334000"/>
            <a:ext cx="4381500" cy="38100"/>
          </a:xfrm>
          <a:prstGeom prst="roundRect">
            <a:avLst>
              <a:gd name="adj" fmla="val 50000"/>
            </a:avLst>
          </a:prstGeom>
          <a:solidFill>
            <a:srgbClr val="FFD21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714750" y="5619750"/>
            <a:ext cx="47625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D21A"/>
              </a:buClr>
              <a:buSzPts val="1500"/>
              <a:buFont typeface="Arial"/>
              <a:buNone/>
            </a:pPr>
            <a:r>
              <a:rPr lang="es-CL" sz="1500" b="1">
                <a:solidFill>
                  <a:srgbClr val="FFD21A"/>
                </a:solidFill>
                <a:latin typeface="Arial"/>
                <a:ea typeface="Arial"/>
                <a:cs typeface="Arial"/>
                <a:sym typeface="Arial"/>
              </a:rPr>
              <a:t>Sistema Ferretero Inteligente</a:t>
            </a:r>
            <a:endParaRPr/>
          </a:p>
        </p:txBody>
      </p:sp>
      <p:sp>
        <p:nvSpPr>
          <p:cNvPr id="370" name="Google Shape;370;p13"/>
          <p:cNvSpPr/>
          <p:nvPr/>
        </p:nvSpPr>
        <p:spPr>
          <a:xfrm>
            <a:off x="666750" y="64770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SFI  |  PRESENTACIÓN DEL PROYECTO</a:t>
            </a:r>
            <a:endParaRPr/>
          </a:p>
        </p:txBody>
      </p:sp>
      <p:sp>
        <p:nvSpPr>
          <p:cNvPr id="371" name="Google Shape;371;p13"/>
          <p:cNvSpPr/>
          <p:nvPr/>
        </p:nvSpPr>
        <p:spPr>
          <a:xfrm>
            <a:off x="11239500" y="6477000"/>
            <a:ext cx="381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s-CL" sz="750" b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Microsoft Office PowerPoint</Application>
  <PresentationFormat>Panorámica</PresentationFormat>
  <Paragraphs>215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Walnut Exporter</dc:creator>
  <cp:lastModifiedBy>FELIPE IGNACIO CHAVEZ SALINAS</cp:lastModifiedBy>
  <cp:revision>1</cp:revision>
  <dcterms:created xsi:type="dcterms:W3CDTF">2026-09-10T19:04:04Z</dcterms:created>
  <dcterms:modified xsi:type="dcterms:W3CDTF">2026-10-03T15:08:43Z</dcterms:modified>
</cp:coreProperties>
</file>