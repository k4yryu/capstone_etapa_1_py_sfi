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uCGLL1XT82PIcX8kL9idGh51n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B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486149" y="838200"/>
            <a:ext cx="5219700" cy="2686050"/>
          </a:xfrm>
          <a:prstGeom prst="roundRect">
            <a:avLst>
              <a:gd fmla="val 99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8831" y="952500"/>
            <a:ext cx="4934337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5491353" y="4056697"/>
            <a:ext cx="120929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AF2"/>
              </a:buClr>
              <a:buSzPts val="1650"/>
              <a:buFont typeface="Arial"/>
              <a:buNone/>
            </a:pPr>
            <a:r>
              <a:rPr b="0" lang="es-CL" sz="1650">
                <a:solidFill>
                  <a:srgbClr val="C9DAF2"/>
                </a:solidFill>
                <a:latin typeface="Arial"/>
                <a:ea typeface="Arial"/>
                <a:cs typeface="Arial"/>
                <a:sym typeface="Arial"/>
              </a:rPr>
              <a:t>Integrantes:</a:t>
            </a:r>
            <a:endParaRPr b="0" sz="1650">
              <a:solidFill>
                <a:srgbClr val="C9DA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682869" y="4483989"/>
            <a:ext cx="28262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lang="es-CL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Felipe Chávez - Alonso Urrutia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lang="es-CL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Vicente Palma - Franco Miranda</a:t>
            </a:r>
            <a:endParaRPr b="0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7700" y="63246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FC6E8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AFC6E8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FC6E8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AFC6E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1944350" y="0"/>
            <a:ext cx="2476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563168" y="6134100"/>
            <a:ext cx="13580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AF2"/>
              </a:buClr>
              <a:buSzPts val="1600"/>
              <a:buFont typeface="Arial"/>
              <a:buNone/>
            </a:pPr>
            <a:r>
              <a:rPr b="0" lang="es-CL" sz="1600">
                <a:solidFill>
                  <a:srgbClr val="C9DAF2"/>
                </a:solidFill>
                <a:latin typeface="Arial"/>
                <a:ea typeface="Arial"/>
                <a:cs typeface="Arial"/>
                <a:sym typeface="Arial"/>
              </a:rPr>
              <a:t>Sección: 003D</a:t>
            </a:r>
            <a:endParaRPr b="0" sz="1600">
              <a:solidFill>
                <a:srgbClr val="C9DA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198559" y="6153150"/>
            <a:ext cx="2575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AF2"/>
              </a:buClr>
              <a:buSzPts val="1600"/>
              <a:buFont typeface="Arial"/>
              <a:buNone/>
            </a:pPr>
            <a:r>
              <a:rPr b="0" lang="es-CL" sz="1600">
                <a:solidFill>
                  <a:srgbClr val="C9DAF2"/>
                </a:solidFill>
                <a:latin typeface="Arial"/>
                <a:ea typeface="Arial"/>
                <a:cs typeface="Arial"/>
                <a:sym typeface="Arial"/>
              </a:rPr>
              <a:t>Docente: Juan Alberto Gana</a:t>
            </a:r>
            <a:endParaRPr b="0" sz="1600">
              <a:solidFill>
                <a:srgbClr val="C9DA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762000" y="3619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b="1" lang="es-CL" sz="975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EMPRESA MANDANTE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762000" y="685800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b="1" lang="es-CL" sz="255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Contexto del Proyecto</a:t>
            </a:r>
            <a:endParaRPr b="1" sz="25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0" y="0"/>
            <a:ext cx="171450" cy="6858000"/>
          </a:xfrm>
          <a:prstGeom prst="roundRect">
            <a:avLst>
              <a:gd fmla="val 14286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30029"/>
            <a:ext cx="1428750" cy="71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904875" y="1666875"/>
            <a:ext cx="10382250" cy="3333750"/>
          </a:xfrm>
          <a:prstGeom prst="roundRect">
            <a:avLst>
              <a:gd fmla="val 9032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47750" y="2047875"/>
            <a:ext cx="100965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20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Grupo Punto Obra SpA comercializa y distribuye materiales de construcción, herramientas y productos para el mejoramiento del hogar. La empresa opera sucursales en Quilicura, Huechuraba y Santiago Centro, junto con una bodega central ubicada en Quilicura.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20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La organización identificó la necesidad de modernizar su canal de venta y concentrar en una sola plataforma el catálogo, inventario, ventas, pagos y atención al cliente. Para responder a esta necesidad, adquirió y financió SFI, con un presupuesto de 100 millones de pesos (2445,36 UF), una solución que incorpora ecommerce, asistencia mediante inteligencia artificial y promoción de maestros.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750"/>
              <a:buFont typeface="Arial"/>
              <a:buNone/>
            </a:pPr>
            <a:r>
              <a:rPr b="0" lang="es-CL" sz="75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750"/>
              <a:buFont typeface="Arial"/>
              <a:buNone/>
            </a:pPr>
            <a:r>
              <a:rPr b="0" lang="es-CL" sz="75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b="1" lang="es-CL" sz="975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POR QUÉ SFI</a:t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b="1" lang="es-CL" sz="255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Problema y oportunidad</a:t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666750" y="166687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66750" y="166687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25"/>
              <a:buFont typeface="Arial"/>
              <a:buNone/>
            </a:pPr>
            <a:r>
              <a:rPr b="1" lang="es-CL" sz="11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295400" y="1666875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Compra sin Guia</a:t>
            </a:r>
            <a:endParaRPr b="1" sz="1400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295400" y="1952625"/>
            <a:ext cx="4419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Muchos clientes conocen el proyecto que quieren realizar, pero no identifican materiales, cantidades o alternativas.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66750" y="300037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66750" y="300037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25"/>
              <a:buFont typeface="Arial"/>
              <a:buNone/>
            </a:pPr>
            <a:r>
              <a:rPr b="1" lang="es-CL" sz="11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295400" y="3000375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Información fragmentada</a:t>
            </a:r>
            <a:endParaRPr b="1" sz="1400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295400" y="3286125"/>
            <a:ext cx="4419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Catálogo, stock, venta, reposición y apoyo al cliente suelen funcionar como procesos separados.</a:t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666750" y="433387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66750" y="433387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25"/>
              <a:buFont typeface="Arial"/>
              <a:buNone/>
            </a:pPr>
            <a:r>
              <a:rPr b="1" lang="es-CL" sz="11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295400" y="4333875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Profesionales con poca visibilidad</a:t>
            </a:r>
            <a:endParaRPr b="1" sz="1400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295400" y="4619625"/>
            <a:ext cx="4419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Los maestros necesitan un espacio donde mostrar especialidades y portafolio frente a clientes interesados.</a:t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667500" y="1714500"/>
            <a:ext cx="4286250" cy="3524250"/>
          </a:xfrm>
          <a:prstGeom prst="roundRect">
            <a:avLst>
              <a:gd fmla="val 7568" name="adj"/>
            </a:avLst>
          </a:prstGeom>
          <a:solidFill>
            <a:srgbClr val="061B4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143750" y="2095500"/>
            <a:ext cx="3333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800"/>
              <a:buFont typeface="Arial"/>
              <a:buNone/>
            </a:pPr>
            <a:r>
              <a:rPr b="1" lang="es-CL" sz="1800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Oportunidad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143750" y="2762250"/>
            <a:ext cx="3333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6"/>
              <a:buFont typeface="Arial"/>
              <a:buNone/>
            </a:pPr>
            <a:r>
              <a:rPr b="1" lang="es-CL" sz="194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Concentrar el recorrido digital en una sola plataforma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286625" y="3857625"/>
            <a:ext cx="3048000" cy="1905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239000" y="4095750"/>
            <a:ext cx="31432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500"/>
              <a:buFont typeface="Arial"/>
              <a:buNone/>
            </a:pPr>
            <a:r>
              <a:rPr b="0" lang="es-CL" sz="1500">
                <a:solidFill>
                  <a:srgbClr val="D6E4F7"/>
                </a:solidFill>
                <a:latin typeface="Arial"/>
                <a:ea typeface="Arial"/>
                <a:cs typeface="Arial"/>
                <a:sym typeface="Arial"/>
              </a:rPr>
              <a:t>Más orientación para el cliente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500"/>
              <a:buFont typeface="Arial"/>
              <a:buNone/>
            </a:pPr>
            <a:r>
              <a:rPr b="0" lang="es-CL" sz="1500">
                <a:solidFill>
                  <a:srgbClr val="D6E4F7"/>
                </a:solidFill>
                <a:latin typeface="Arial"/>
                <a:ea typeface="Arial"/>
                <a:cs typeface="Arial"/>
                <a:sym typeface="Arial"/>
              </a:rPr>
              <a:t>Más control para la ferretería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b="1" lang="es-CL" sz="975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EXPERIENCIA PROPUESTA</a:t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b="1" lang="es-CL" sz="255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Cómo funciona SFI</a:t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85800" y="1857375"/>
            <a:ext cx="2038350" cy="2952750"/>
          </a:xfrm>
          <a:prstGeom prst="roundRect">
            <a:avLst>
              <a:gd fmla="val 11215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26770" y="2143125"/>
            <a:ext cx="175641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12"/>
              <a:buFont typeface="Arial"/>
              <a:buNone/>
            </a:pPr>
            <a:r>
              <a:rPr b="1" lang="es-CL" sz="1513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1. Idea o Necesidad</a:t>
            </a:r>
            <a:endParaRPr b="1" sz="1513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947928" y="3085718"/>
            <a:ext cx="1614678" cy="76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El cliente explica lo que quiere construir o reparar.</a:t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895350" y="4476750"/>
            <a:ext cx="571500" cy="57150"/>
          </a:xfrm>
          <a:prstGeom prst="roundRect">
            <a:avLst>
              <a:gd fmla="val 50000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143250" y="1857375"/>
            <a:ext cx="2038350" cy="2952750"/>
          </a:xfrm>
          <a:prstGeom prst="roundRect">
            <a:avLst>
              <a:gd fmla="val 11215" name="adj"/>
            </a:avLst>
          </a:prstGeom>
          <a:solidFill>
            <a:srgbClr val="0B3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543680" y="2130171"/>
            <a:ext cx="1237488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2. Asistencia</a:t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176587" y="2992183"/>
            <a:ext cx="19716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IA orienta y relaciona la necesidad con materiales del catálogo.</a:t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352800" y="4476750"/>
            <a:ext cx="571500" cy="57150"/>
          </a:xfrm>
          <a:prstGeom prst="roundRect">
            <a:avLst>
              <a:gd fmla="val 50000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619368" y="1857375"/>
            <a:ext cx="2038350" cy="2952750"/>
          </a:xfrm>
          <a:prstGeom prst="roundRect">
            <a:avLst>
              <a:gd fmla="val 11215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993130" y="2201608"/>
            <a:ext cx="1047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3. Compra</a:t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5915785" y="3102101"/>
            <a:ext cx="1445515" cy="891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El usuario revisa productos, stock, carrito y pago electrónico.</a:t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810250" y="4476750"/>
            <a:ext cx="571500" cy="57150"/>
          </a:xfrm>
          <a:prstGeom prst="roundRect">
            <a:avLst>
              <a:gd fmla="val 50000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095486" y="1857375"/>
            <a:ext cx="2038350" cy="2952750"/>
          </a:xfrm>
          <a:prstGeom prst="roundRect">
            <a:avLst>
              <a:gd fmla="val 11215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341995" y="2146554"/>
            <a:ext cx="147066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4. Continuidad</a:t>
            </a:r>
            <a:endParaRPr b="1" sz="1575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341995" y="2979799"/>
            <a:ext cx="1619250" cy="1136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295"/>
              <a:buFont typeface="Arial"/>
              <a:buNone/>
            </a:pPr>
            <a:r>
              <a:rPr b="1" lang="es-CL" sz="1295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La ferretería registra venta e inventario. El cliente puede consultar maestros.</a:t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8267700" y="4476750"/>
            <a:ext cx="571500" cy="57150"/>
          </a:xfrm>
          <a:prstGeom prst="roundRect">
            <a:avLst>
              <a:gd fmla="val 50000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85800" y="542925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53"/>
              <a:buFont typeface="Arial"/>
              <a:buNone/>
            </a:pPr>
            <a:r>
              <a:rPr b="1" lang="es-CL" sz="1753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El resultado es un recorrido coherente, con reglas críticas controladas desde el backend.</a:t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b="1" lang="es-CL" sz="975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QUÉ INCLUYE Y QUÉ LIMITA</a:t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b="1" lang="es-CL" sz="255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Alcance del producto</a:t>
            </a:r>
            <a:endParaRPr b="1" sz="2550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85800" y="15716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A36A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20A36A"/>
                </a:solidFill>
                <a:latin typeface="Arial"/>
                <a:ea typeface="Arial"/>
                <a:cs typeface="Arial"/>
                <a:sym typeface="Arial"/>
              </a:rPr>
              <a:t>INCLUYE</a:t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572250" y="15716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A4A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D14A4A"/>
                </a:solidFill>
                <a:latin typeface="Arial"/>
                <a:ea typeface="Arial"/>
                <a:cs typeface="Arial"/>
                <a:sym typeface="Arial"/>
              </a:rPr>
              <a:t>FUERA DEL ALCANCE</a:t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85800" y="209550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20A36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952500" y="1971675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Usuarios, perfiles, roles y permisos</a:t>
            </a:r>
            <a:endParaRPr b="1" sz="1400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85800" y="271462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20A36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952500" y="259080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Catálogo, ofertas, carrito, ventas y pago</a:t>
            </a:r>
            <a:endParaRPr b="1" sz="1400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85800" y="333375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20A36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952500" y="3209925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Stock, proveedores, reposición y Kardex</a:t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685800" y="39528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20A36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952500" y="382905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Asistencia con IA y perfiles de maestros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85800" y="457200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20A36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52500" y="4448175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Administración, pruebas y documentación</a:t>
            </a:r>
            <a:endParaRPr b="1" sz="1400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572250" y="209550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D14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838950" y="1971675"/>
            <a:ext cx="4667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Contratación formal o pago de servicios a maestros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572250" y="271462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D14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838950" y="2590800"/>
            <a:ext cx="4667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Negociación, garantías o mediación de disputas</a:t>
            </a:r>
            <a:endParaRPr b="1" sz="1400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572250" y="333375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D14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838950" y="3209925"/>
            <a:ext cx="4667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Contabilidad, remuneraciones y gestión tributaria</a:t>
            </a:r>
            <a:endParaRPr b="1" sz="1400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572250" y="39528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D14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838950" y="3829050"/>
            <a:ext cx="4667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Aplicación móvil nativa independiente</a:t>
            </a:r>
            <a:endParaRPr b="1" sz="1400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572250" y="457200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D14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838950" y="4448175"/>
            <a:ext cx="4667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Migración masiva de los datos historicos</a:t>
            </a:r>
            <a:endParaRPr b="1" sz="1400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85800" y="5486400"/>
            <a:ext cx="10382250" cy="457200"/>
          </a:xfrm>
          <a:prstGeom prst="roundRect">
            <a:avLst>
              <a:gd fmla="val 29167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895350" y="5524500"/>
            <a:ext cx="9963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SFI promociona maestros. Cliente y profesional coordinan externamente precios, fechas y ejecución de la obra.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b="1" lang="es-CL" sz="975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PRODUCTO</a:t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b="1" lang="es-CL" sz="255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Módulos principales</a:t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66750" y="1666875"/>
            <a:ext cx="2333625" cy="1524000"/>
          </a:xfrm>
          <a:prstGeom prst="roundRect">
            <a:avLst>
              <a:gd fmla="val 13750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76300" y="1857375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b="1" lang="es-CL" sz="17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876300" y="2362200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Acceso, perfiles y permisos</a:t>
            </a:r>
            <a:endParaRPr b="0" sz="140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381375" y="1666875"/>
            <a:ext cx="2333625" cy="1524000"/>
          </a:xfrm>
          <a:prstGeom prst="roundRect">
            <a:avLst>
              <a:gd fmla="val 13750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590925" y="1857375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b="1" lang="es-CL" sz="17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Catálogo</a:t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3590925" y="2362200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Productos, categorías y ofertas</a:t>
            </a:r>
            <a:endParaRPr b="0" sz="140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096000" y="1666875"/>
            <a:ext cx="2333625" cy="1524000"/>
          </a:xfrm>
          <a:prstGeom prst="roundRect">
            <a:avLst>
              <a:gd fmla="val 13750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305550" y="1857375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b="1" lang="es-CL" sz="17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Ventas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305550" y="2362200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Carrito, pago, boleta e historial</a:t>
            </a:r>
            <a:endParaRPr b="0" sz="140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810625" y="1666875"/>
            <a:ext cx="2333625" cy="1524000"/>
          </a:xfrm>
          <a:prstGeom prst="roundRect">
            <a:avLst>
              <a:gd fmla="val 13750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9020175" y="1857375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b="1" lang="es-CL" sz="17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Inventario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9020175" y="2362200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Stock, proveedores y Kardex</a:t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666750" y="3619500"/>
            <a:ext cx="2333625" cy="1524000"/>
          </a:xfrm>
          <a:prstGeom prst="roundRect">
            <a:avLst>
              <a:gd fmla="val 13750" name="adj"/>
            </a:avLst>
          </a:prstGeom>
          <a:solidFill>
            <a:srgbClr val="0B3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76300" y="3810000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725"/>
              <a:buFont typeface="Arial"/>
              <a:buNone/>
            </a:pPr>
            <a:r>
              <a:rPr b="1" lang="es-CL" sz="1725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IA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876300" y="4314825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Orientación y sugerencias de compra</a:t>
            </a:r>
            <a:endParaRPr b="0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381375" y="3619500"/>
            <a:ext cx="2333625" cy="1524000"/>
          </a:xfrm>
          <a:prstGeom prst="roundRect">
            <a:avLst>
              <a:gd fmla="val 13750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590925" y="3810000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b="1" lang="es-CL" sz="17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Maestros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3590925" y="4314825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Perfiles, especialidades y visibilidad</a:t>
            </a:r>
            <a:endParaRPr b="0" sz="140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096000" y="3619500"/>
            <a:ext cx="2333625" cy="1524000"/>
          </a:xfrm>
          <a:prstGeom prst="roundRect">
            <a:avLst>
              <a:gd fmla="val 13750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305550" y="3810000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b="1" lang="es-CL" sz="17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Despachos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6305550" y="4314825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Retiros, entrega y estados</a:t>
            </a:r>
            <a:endParaRPr b="0" sz="140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810625" y="3619500"/>
            <a:ext cx="2333625" cy="1524000"/>
          </a:xfrm>
          <a:prstGeom prst="roundRect">
            <a:avLst>
              <a:gd fmla="val 13750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020175" y="3810000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b="1" lang="es-CL" sz="17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Administración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9020175" y="4314825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Gestión interna según rol</a:t>
            </a:r>
            <a:endParaRPr b="0" sz="140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b="1" lang="es-CL" sz="975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DJANGO MVT Y MYSQL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b="1" lang="es-CL" sz="255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Arquitectura de la solución</a:t>
            </a:r>
            <a:endParaRPr b="1" sz="2550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85800" y="1857375"/>
            <a:ext cx="3238500" cy="1619250"/>
          </a:xfrm>
          <a:prstGeom prst="roundRect">
            <a:avLst>
              <a:gd fmla="val 12941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952500" y="2095500"/>
            <a:ext cx="2705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b="1" lang="es-CL" sz="17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1" sz="1725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952500" y="2628900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HTML · CSS · JavaScript · Django Templates</a:t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4352925" y="1857375"/>
            <a:ext cx="3238500" cy="1619250"/>
          </a:xfrm>
          <a:prstGeom prst="roundRect">
            <a:avLst>
              <a:gd fmla="val 12941" name="adj"/>
            </a:avLst>
          </a:prstGeom>
          <a:solidFill>
            <a:srgbClr val="0B3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619625" y="2095500"/>
            <a:ext cx="2705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1" lang="es-CL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Aplicación</a:t>
            </a:r>
            <a:endParaRPr b="1" sz="172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619625" y="2628900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URLs · Views · Forms · servicios · reglas de negocio</a:t>
            </a:r>
            <a:endParaRPr b="0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8020050" y="1857375"/>
            <a:ext cx="3238500" cy="1619250"/>
          </a:xfrm>
          <a:prstGeom prst="roundRect">
            <a:avLst>
              <a:gd fmla="val 12941" name="adj"/>
            </a:avLst>
          </a:prstGeom>
          <a:solidFill>
            <a:srgbClr val="061B4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8286750" y="2095500"/>
            <a:ext cx="2705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1" lang="es-CL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8286750" y="2628900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Models · Django ORM · migraciones · MySQL</a:t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85800" y="409575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87"/>
              <a:buFont typeface="Arial"/>
              <a:buNone/>
            </a:pPr>
            <a:r>
              <a:rPr b="1" lang="es-CL" sz="1587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Integraciones controladas por el backend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685800" y="4667250"/>
            <a:ext cx="1714500" cy="342900"/>
          </a:xfrm>
          <a:prstGeom prst="roundRect">
            <a:avLst>
              <a:gd fmla="val 50000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819150" y="4667250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Webpay Plus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2571750" y="4667250"/>
            <a:ext cx="1333500" cy="342900"/>
          </a:xfrm>
          <a:prstGeom prst="roundRect">
            <a:avLst>
              <a:gd fmla="val 50000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2705100" y="4667250"/>
            <a:ext cx="1066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Correo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076700" y="4667250"/>
            <a:ext cx="1809750" cy="342900"/>
          </a:xfrm>
          <a:prstGeom prst="roundRect">
            <a:avLst>
              <a:gd fmla="val 50000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210050" y="4667250"/>
            <a:ext cx="15430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Servicios de IA</a:t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572250" y="4114800"/>
            <a:ext cx="4305300" cy="1285875"/>
          </a:xfrm>
          <a:prstGeom prst="roundRect">
            <a:avLst>
              <a:gd fmla="val 14815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858000" y="430530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b="1" sz="1400">
              <a:solidFill>
                <a:srgbClr val="0B3A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858000" y="4686300"/>
            <a:ext cx="40195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Sesiones y permisos · CSRF · validación en servidor · secretos por entorno · HTTPS en producción</a:t>
            </a:r>
            <a:endParaRPr b="0" sz="140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b="1" lang="es-CL" sz="975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HERRAMIENTAS SELECCIONADAS</a:t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b="1" lang="es-CL" sz="255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Stack tecnológico</a:t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495300" y="1762125"/>
            <a:ext cx="2038350" cy="3143250"/>
          </a:xfrm>
          <a:prstGeom prst="roundRect">
            <a:avLst>
              <a:gd fmla="val 11215" name="adj"/>
            </a:avLst>
          </a:prstGeom>
          <a:solidFill>
            <a:srgbClr val="0B3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66750" y="2038350"/>
            <a:ext cx="1695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s-CL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942975" y="2505075"/>
            <a:ext cx="1143000" cy="28575"/>
          </a:xfrm>
          <a:prstGeom prst="roundRect">
            <a:avLst>
              <a:gd fmla="val 33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704850" y="2781300"/>
            <a:ext cx="16192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Django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Django ORM</a:t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2819400" y="1762125"/>
            <a:ext cx="2038350" cy="3143250"/>
          </a:xfrm>
          <a:prstGeom prst="roundRect">
            <a:avLst>
              <a:gd fmla="val 11215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990850" y="2038350"/>
            <a:ext cx="1695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25"/>
              <a:buFont typeface="Arial"/>
              <a:buNone/>
            </a:pPr>
            <a:r>
              <a:rPr b="1" lang="es-CL" sz="11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3267075" y="2505075"/>
            <a:ext cx="1143000" cy="28575"/>
          </a:xfrm>
          <a:prstGeom prst="roundRect">
            <a:avLst>
              <a:gd fmla="val 33333" name="adj"/>
            </a:avLst>
          </a:prstGeom>
          <a:solidFill>
            <a:srgbClr val="061B4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028950" y="2781300"/>
            <a:ext cx="16192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Migraciones</a:t>
            </a:r>
            <a:endParaRPr b="1" sz="1575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Modelos relacionales</a:t>
            </a:r>
            <a:endParaRPr b="1" sz="1575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143500" y="1762125"/>
            <a:ext cx="2038350" cy="3143250"/>
          </a:xfrm>
          <a:prstGeom prst="roundRect">
            <a:avLst>
              <a:gd fmla="val 11215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314950" y="2038350"/>
            <a:ext cx="1695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25"/>
              <a:buFont typeface="Arial"/>
              <a:buNone/>
            </a:pPr>
            <a:r>
              <a:rPr b="1" lang="es-CL" sz="11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591175" y="2505075"/>
            <a:ext cx="1143000" cy="28575"/>
          </a:xfrm>
          <a:prstGeom prst="roundRect">
            <a:avLst>
              <a:gd fmla="val 33333" name="adj"/>
            </a:avLst>
          </a:prstGeom>
          <a:solidFill>
            <a:srgbClr val="061B4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353050" y="2781300"/>
            <a:ext cx="16192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HTML5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CSS3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7467600" y="1762125"/>
            <a:ext cx="2038350" cy="3143250"/>
          </a:xfrm>
          <a:prstGeom prst="roundRect">
            <a:avLst>
              <a:gd fmla="val 11215" name="adj"/>
            </a:avLst>
          </a:prstGeom>
          <a:solidFill>
            <a:srgbClr val="061B4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7639050" y="2038350"/>
            <a:ext cx="1695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s-CL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7915275" y="2505075"/>
            <a:ext cx="1143000" cy="28575"/>
          </a:xfrm>
          <a:prstGeom prst="roundRect">
            <a:avLst>
              <a:gd fmla="val 33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7677150" y="2781300"/>
            <a:ext cx="16192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Pytest</a:t>
            </a:r>
            <a:endParaRPr b="1" sz="15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Apache JMeter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Pruebas manuales</a:t>
            </a:r>
            <a:endParaRPr b="1" sz="15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9791700" y="1762125"/>
            <a:ext cx="2038350" cy="3143250"/>
          </a:xfrm>
          <a:prstGeom prst="roundRect">
            <a:avLst>
              <a:gd fmla="val 11215" name="adj"/>
            </a:avLst>
          </a:prstGeom>
          <a:solidFill>
            <a:srgbClr val="D9E9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9963150" y="2038350"/>
            <a:ext cx="1695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25"/>
              <a:buFont typeface="Arial"/>
              <a:buNone/>
            </a:pPr>
            <a:r>
              <a:rPr b="1" lang="es-CL" sz="11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COLABORACIÓN</a:t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10239375" y="2505075"/>
            <a:ext cx="1143000" cy="28575"/>
          </a:xfrm>
          <a:prstGeom prst="roundRect">
            <a:avLst>
              <a:gd fmla="val 33333" name="adj"/>
            </a:avLst>
          </a:prstGeom>
          <a:solidFill>
            <a:srgbClr val="061B4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0001250" y="2781300"/>
            <a:ext cx="16192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b="1" lang="es-CL" sz="15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Visual Studio Code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66750" y="5429250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500"/>
              <a:buFont typeface="Arial"/>
              <a:buNone/>
            </a:pPr>
            <a:r>
              <a:rPr b="0" lang="es-CL" sz="15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Configuración reproducible mediante entorno virtual, requirements.txt y variables de entorno.</a:t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b="1" lang="es-CL" sz="975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18 SEMANAS Y 3 SPRINTS</a:t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b="1" lang="es-CL" sz="255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Plan de trabajo</a:t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85800" y="1809750"/>
            <a:ext cx="3238500" cy="3476625"/>
          </a:xfrm>
          <a:prstGeom prst="roundRect">
            <a:avLst>
              <a:gd fmla="val 7647" name="adj"/>
            </a:avLst>
          </a:prstGeom>
          <a:solidFill>
            <a:srgbClr val="0B3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952500" y="207645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48"/>
              <a:buFont typeface="Arial"/>
              <a:buNone/>
            </a:pPr>
            <a:r>
              <a:rPr b="1" lang="es-CL" sz="164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2781300" y="2095500"/>
            <a:ext cx="876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115"/>
              <a:buFont typeface="Arial"/>
              <a:buNone/>
            </a:pPr>
            <a:r>
              <a:rPr b="1" lang="es-CL" sz="1116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8 semanas</a:t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952500" y="2543175"/>
            <a:ext cx="2705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E3F5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D5E3F5"/>
                </a:solidFill>
                <a:latin typeface="Arial"/>
                <a:ea typeface="Arial"/>
                <a:cs typeface="Arial"/>
                <a:sym typeface="Arial"/>
              </a:rPr>
              <a:t>10 ago – 2 oct</a:t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952500" y="3095625"/>
            <a:ext cx="27051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lang="es-CL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del ecommerce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952500" y="3810000"/>
            <a:ext cx="27051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ECF9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E3ECF9"/>
                </a:solidFill>
                <a:latin typeface="Arial"/>
                <a:ea typeface="Arial"/>
                <a:cs typeface="Arial"/>
                <a:sym typeface="Arial"/>
              </a:rPr>
              <a:t>Requerimientos, cuentas, CRUD, frontend, backend, carrito y Webpay Plus.</a:t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4362450" y="1809750"/>
            <a:ext cx="3238500" cy="3476625"/>
          </a:xfrm>
          <a:prstGeom prst="roundRect">
            <a:avLst>
              <a:gd fmla="val 7647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629150" y="207645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648"/>
              <a:buFont typeface="Arial"/>
              <a:buNone/>
            </a:pPr>
            <a:r>
              <a:rPr b="1" lang="es-CL" sz="1649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Sprint 2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6457950" y="2095500"/>
            <a:ext cx="876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15"/>
              <a:buFont typeface="Arial"/>
              <a:buNone/>
            </a:pPr>
            <a:r>
              <a:rPr b="1" lang="es-CL" sz="1116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6 semanas</a:t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4629150" y="2543175"/>
            <a:ext cx="2705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5 oct – 13 nov</a:t>
            </a:r>
            <a:endParaRPr b="0" sz="1400">
              <a:solidFill>
                <a:srgbClr val="0B3A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629150" y="3095625"/>
            <a:ext cx="27051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875"/>
              <a:buFont typeface="Arial"/>
              <a:buNone/>
            </a:pPr>
            <a:r>
              <a:rPr b="1" lang="es-CL" sz="18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Funciones avanzadas</a:t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4629150" y="3810000"/>
            <a:ext cx="27051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IA, stock y Kardex, maestros, sugerencias de compra, mejoras y despachos.</a:t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8039100" y="1809750"/>
            <a:ext cx="3238500" cy="3476625"/>
          </a:xfrm>
          <a:prstGeom prst="roundRect">
            <a:avLst>
              <a:gd fmla="val 7647" name="adj"/>
            </a:avLst>
          </a:prstGeom>
          <a:solidFill>
            <a:srgbClr val="061B4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8305800" y="207645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48"/>
              <a:buFont typeface="Arial"/>
              <a:buNone/>
            </a:pPr>
            <a:r>
              <a:rPr b="1" lang="es-CL" sz="164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3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10134600" y="2095500"/>
            <a:ext cx="876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115"/>
              <a:buFont typeface="Arial"/>
              <a:buNone/>
            </a:pPr>
            <a:r>
              <a:rPr b="1" lang="es-CL" sz="1116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4 semanas</a:t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8305800" y="2543175"/>
            <a:ext cx="2705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E3F5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D5E3F5"/>
                </a:solidFill>
                <a:latin typeface="Arial"/>
                <a:ea typeface="Arial"/>
                <a:cs typeface="Arial"/>
                <a:sym typeface="Arial"/>
              </a:rPr>
              <a:t>16 nov – 11 dic</a:t>
            </a:r>
            <a:endParaRPr b="0" sz="1400">
              <a:solidFill>
                <a:srgbClr val="D5E3F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8305800" y="3095625"/>
            <a:ext cx="27051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lang="es-CL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Calidad y entrega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8305800" y="3810000"/>
            <a:ext cx="27051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ECF9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E3ECF9"/>
                </a:solidFill>
                <a:latin typeface="Arial"/>
                <a:ea typeface="Arial"/>
                <a:cs typeface="Arial"/>
                <a:sym typeface="Arial"/>
              </a:rPr>
              <a:t>QA final, correcciones, documentación, evidencias y presentación.</a:t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685800" y="5619750"/>
            <a:ext cx="1047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Seguimiento semanal los jueves · Product Backlog · weeklys · retrospectivas · Carta Gantt · evidencias</a:t>
            </a:r>
            <a:endParaRPr b="1" sz="140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0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b="1" lang="es-CL" sz="975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MATRIZ RACI RESUMIDA</a:t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b="1" lang="es-CL" sz="255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Equipo y responsabilidades</a:t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685800" y="1619250"/>
            <a:ext cx="10382250" cy="800100"/>
          </a:xfrm>
          <a:prstGeom prst="roundRect">
            <a:avLst>
              <a:gd fmla="val 21429" name="adj"/>
            </a:avLst>
          </a:prstGeom>
          <a:solidFill>
            <a:srgbClr val="061B4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933450" y="17716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Felipe Chávez</a:t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3333750" y="17716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Jefe de Proyecto</a:t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5715000" y="1752600"/>
            <a:ext cx="3857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Dirección, alcance, prioridades y aceptación</a:t>
            </a:r>
            <a:endParaRPr b="0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9791700" y="1847850"/>
            <a:ext cx="1000125" cy="342900"/>
          </a:xfrm>
          <a:prstGeom prst="roundRect">
            <a:avLst>
              <a:gd fmla="val 50000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9925050" y="1847850"/>
            <a:ext cx="7334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A / A-R</a:t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685800" y="2619375"/>
            <a:ext cx="10382250" cy="800100"/>
          </a:xfrm>
          <a:prstGeom prst="roundRect">
            <a:avLst>
              <a:gd fmla="val 21429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933450" y="2771775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Vicente Palma</a:t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3333750" y="2771775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341"/>
              <a:buFont typeface="Arial"/>
              <a:buNone/>
            </a:pPr>
            <a:r>
              <a:rPr b="1" lang="es-CL" sz="1342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Diseñador / Desarrollador</a:t>
            </a:r>
            <a:endParaRPr b="1" sz="1342">
              <a:solidFill>
                <a:srgbClr val="0B3A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715000" y="2752725"/>
            <a:ext cx="3857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Diseño UI/UX, frontend y apoyo a integración</a:t>
            </a:r>
            <a:endParaRPr b="0" sz="140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9791700" y="2847975"/>
            <a:ext cx="1000125" cy="342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9853612" y="2838450"/>
            <a:ext cx="866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R Diseño</a:t>
            </a:r>
            <a:endParaRPr b="1" sz="1400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85800" y="3619500"/>
            <a:ext cx="10382250" cy="800100"/>
          </a:xfrm>
          <a:prstGeom prst="roundRect">
            <a:avLst>
              <a:gd fmla="val 21429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933450" y="377190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Alonso Urrutia</a:t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3333750" y="377190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Desarrollador</a:t>
            </a:r>
            <a:endParaRPr b="1" sz="1400">
              <a:solidFill>
                <a:srgbClr val="0B3A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5715000" y="3752850"/>
            <a:ext cx="3857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Backend, datos, módulos e integraciones</a:t>
            </a:r>
            <a:endParaRPr b="0" sz="140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9791700" y="3848100"/>
            <a:ext cx="1000125" cy="342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9827420" y="3848100"/>
            <a:ext cx="9191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R Técnico</a:t>
            </a:r>
            <a:endParaRPr b="1" sz="1400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85800" y="4610100"/>
            <a:ext cx="10382250" cy="800100"/>
          </a:xfrm>
          <a:prstGeom prst="roundRect">
            <a:avLst>
              <a:gd fmla="val 21429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933450" y="4772025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Franco Miranda</a:t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3333750" y="4772025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Analista / QA</a:t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5715000" y="4752975"/>
            <a:ext cx="3857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Planificación, ejecución y evidencia de pruebas</a:t>
            </a:r>
            <a:endParaRPr b="0" sz="140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9791700" y="4848225"/>
            <a:ext cx="1000125" cy="342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9796272" y="4848225"/>
            <a:ext cx="1000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R Calidad</a:t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685800" y="5810250"/>
            <a:ext cx="666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A: Aprueba · R: Ejecuta · C: Aporta información · I: Recibe información</a:t>
            </a:r>
            <a:endParaRPr b="0" sz="140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1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b="1" lang="es-CL" sz="975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QA INTEGRADO AL PROYECTO</a:t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b="1" lang="es-CL" sz="255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Calidad y validación</a:t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85800" y="1524000"/>
            <a:ext cx="10287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800"/>
              <a:buFont typeface="Arial"/>
              <a:buNone/>
            </a:pPr>
            <a:r>
              <a:rPr b="1" lang="es-CL" sz="18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La Definition of Done exige funcionalidad integrada, permisos revisados, pruebas registradas y ausencia de defectos críticos conocidos.</a:t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685800" y="2714625"/>
            <a:ext cx="3238500" cy="2238375"/>
          </a:xfrm>
          <a:prstGeom prst="roundRect">
            <a:avLst>
              <a:gd fmla="val 10213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914400" y="2952750"/>
            <a:ext cx="278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74"/>
              <a:buFont typeface="Arial"/>
              <a:buNone/>
            </a:pPr>
            <a:r>
              <a:rPr b="1" lang="es-CL" sz="17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Pytest</a:t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914400" y="3476625"/>
            <a:ext cx="2781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Pruebas automatizadas</a:t>
            </a:r>
            <a:endParaRPr b="1" sz="1400">
              <a:solidFill>
                <a:srgbClr val="0B3A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952500" y="3924300"/>
            <a:ext cx="2705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Ejecuciones, resultados y cobertura cuando corresponde</a:t>
            </a:r>
            <a:endParaRPr b="0" sz="140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352925" y="2714625"/>
            <a:ext cx="3238500" cy="2238375"/>
          </a:xfrm>
          <a:prstGeom prst="roundRect">
            <a:avLst>
              <a:gd fmla="val 10213" name="adj"/>
            </a:avLst>
          </a:prstGeom>
          <a:solidFill>
            <a:srgbClr val="0B3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581525" y="2952750"/>
            <a:ext cx="278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774"/>
              <a:buFont typeface="Arial"/>
              <a:buNone/>
            </a:pPr>
            <a:r>
              <a:rPr b="1" lang="es-CL" sz="1775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JMeter</a:t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4581525" y="3476625"/>
            <a:ext cx="2781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Rendimiento y carga</a:t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4619625" y="3924300"/>
            <a:ext cx="2705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Tiempos, latencia, throughput, errores y cantidad de muestras</a:t>
            </a:r>
            <a:endParaRPr b="0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8020050" y="2714625"/>
            <a:ext cx="3238500" cy="2238375"/>
          </a:xfrm>
          <a:prstGeom prst="roundRect">
            <a:avLst>
              <a:gd fmla="val 10213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8248650" y="2952750"/>
            <a:ext cx="278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74"/>
              <a:buFont typeface="Arial"/>
              <a:buNone/>
            </a:pPr>
            <a:r>
              <a:rPr b="1" lang="es-CL" sz="177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Pruebas manuales</a:t>
            </a:r>
            <a:endParaRPr b="1" sz="1775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8248650" y="3476625"/>
            <a:ext cx="2781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Recorridos funcionales</a:t>
            </a:r>
            <a:endParaRPr b="1" sz="1400">
              <a:solidFill>
                <a:srgbClr val="0B3A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8286750" y="3924300"/>
            <a:ext cx="2705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Permisos, consistencia de datos, integraciones y evidencia visual</a:t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3714750" y="5429250"/>
            <a:ext cx="4762500" cy="342900"/>
          </a:xfrm>
          <a:prstGeom prst="roundRect">
            <a:avLst>
              <a:gd fmla="val 50000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3848100" y="5429250"/>
            <a:ext cx="449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QA continuo durante el desarrollo</a:t>
            </a:r>
            <a:endParaRPr b="1" sz="1400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b="1" lang="es-CL" sz="638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2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b="1" lang="es-CL" sz="975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FINANCIAMIENTO DEL PROYECTO</a:t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b="1" lang="es-CL" sz="255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Hitos de pago y presupuesto</a:t>
            </a:r>
            <a:endParaRPr b="1" sz="2550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685800" y="1381125"/>
            <a:ext cx="9810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650"/>
              <a:buFont typeface="Arial"/>
              <a:buNone/>
            </a:pPr>
            <a:r>
              <a:rPr b="1" lang="es-CL" sz="165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Los $100.000.000 se dividieron de forma equitativa y se recibiran al inicio de cada sprint y financiaran las 18 semanas de desarrollo.</a:t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685800" y="2143125"/>
            <a:ext cx="10382250" cy="3476625"/>
          </a:xfrm>
          <a:prstGeom prst="roundRect">
            <a:avLst>
              <a:gd fmla="val 9231" name="adj"/>
            </a:avLst>
          </a:prstGeom>
          <a:solidFill>
            <a:srgbClr val="EE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1000125" y="238125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PAGOS AL INICIO DE CADA SPRINT</a:t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1000125" y="2743200"/>
            <a:ext cx="9715500" cy="28575"/>
          </a:xfrm>
          <a:prstGeom prst="roundRect">
            <a:avLst>
              <a:gd fmla="val 33333" name="adj"/>
            </a:avLst>
          </a:prstGeom>
          <a:solidFill>
            <a:srgbClr val="C9D8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000125" y="2905125"/>
            <a:ext cx="2762250" cy="1047750"/>
          </a:xfrm>
          <a:prstGeom prst="roundRect">
            <a:avLst>
              <a:gd fmla="val 13333" name="adj"/>
            </a:avLst>
          </a:prstGeom>
          <a:solidFill>
            <a:srgbClr val="0B3A82"/>
          </a:solidFill>
          <a:ln>
            <a:noFill/>
          </a:ln>
        </p:spPr>
        <p:txBody>
          <a:bodyPr anchorCtr="0" anchor="ctr" bIns="76200" lIns="76200" spcFirstLastPara="1" rIns="76200" wrap="square" tIns="762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$40.000.000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Inicio semana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238625" y="2905125"/>
            <a:ext cx="2762250" cy="1047750"/>
          </a:xfrm>
          <a:prstGeom prst="roundRect">
            <a:avLst>
              <a:gd fmla="val 13333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ctr" bIns="76200" lIns="76200" spcFirstLastPara="1" rIns="76200" wrap="square" tIns="762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SPRINT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$35.000.000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Inicio semana 9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7477125" y="2905125"/>
            <a:ext cx="2762250" cy="1047750"/>
          </a:xfrm>
          <a:prstGeom prst="roundRect">
            <a:avLst>
              <a:gd fmla="val 13333" name="adj"/>
            </a:avLst>
          </a:prstGeom>
          <a:solidFill>
            <a:srgbClr val="061B47"/>
          </a:solidFill>
          <a:ln>
            <a:noFill/>
          </a:ln>
        </p:spPr>
        <p:txBody>
          <a:bodyPr anchorCtr="0" anchor="ctr" bIns="76200" lIns="76200" spcFirstLastPara="1" rIns="76200" wrap="square" tIns="762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$25.000.000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Inicio semana 15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2000250" y="4191000"/>
            <a:ext cx="3619500" cy="8572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C9D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PRESUPUESTO INICIAL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$100.000.000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6191250" y="4191000"/>
            <a:ext cx="3619500" cy="857250"/>
          </a:xfrm>
          <a:prstGeom prst="roundRect">
            <a:avLst>
              <a:gd fmla="val 13333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ctr" bIns="76200" lIns="76200" spcFirstLastPara="1" rIns="76200" wrap="square" tIns="762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COSTO FINAL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$85.783.038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143000" y="5191125"/>
            <a:ext cx="9906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b="0" lang="es-CL" sz="14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El proyecto utilizó el 85,8% del presupuesto y mantuvo un saldo de $14.216.962.</a:t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4476750" y="5810250"/>
            <a:ext cx="3238500" cy="381000"/>
          </a:xfrm>
          <a:prstGeom prst="roundRect">
            <a:avLst>
              <a:gd fmla="val 50000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4572000" y="581025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b="1" lang="es-CL" sz="140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SALDO FINAL  $14.216.962</a:t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750"/>
              <a:buFont typeface="Arial"/>
              <a:buNone/>
            </a:pPr>
            <a:r>
              <a:rPr b="0" lang="es-CL" sz="75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750"/>
              <a:buFont typeface="Arial"/>
              <a:buNone/>
            </a:pPr>
            <a:r>
              <a:rPr b="0" lang="es-CL" sz="75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"/>
          <p:cNvSpPr/>
          <p:nvPr/>
        </p:nvSpPr>
        <p:spPr>
          <a:xfrm>
            <a:off x="666750" y="6858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55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Modelo de negocio y presupuesto</a:t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685800" y="1581150"/>
            <a:ext cx="10001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000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$100.000.000 CLP</a:t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685800" y="2209800"/>
            <a:ext cx="10287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7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Presupuesto inicial para desarrollar la base de SFI durante 18 semanas.</a:t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685800" y="3143250"/>
            <a:ext cx="1028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25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Venta a varios clientes</a:t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685800" y="3705225"/>
            <a:ext cx="10287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7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Comercializaremos SFI a distintas ferreterías y cadenas mediante una licencia e implementación para cada cliente.</a:t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685800" y="4619625"/>
            <a:ext cx="10287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725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Reutilizaremos la plataforma y adaptaremos su configuración a cada empresa. Cada nueva venta considera sus propios costos de implementación y soporte.</a:t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685800" y="5610225"/>
            <a:ext cx="1028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50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El precio de venta por cliente se definirá según el alcance y los servicios contratados.</a:t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4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b="1" lang="es-CL" sz="975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COMERCIALIZACIÓN DE SFI</a:t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750"/>
              <a:buFont typeface="Arial"/>
              <a:buNone/>
            </a:pPr>
            <a:r>
              <a:rPr b="0" lang="es-CL" sz="75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750"/>
              <a:buFont typeface="Arial"/>
              <a:buNone/>
            </a:pPr>
            <a:r>
              <a:rPr b="0" lang="es-CL" sz="75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B47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"/>
          <p:cNvSpPr/>
          <p:nvPr/>
        </p:nvSpPr>
        <p:spPr>
          <a:xfrm>
            <a:off x="685800" y="3619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975"/>
              <a:buFont typeface="Arial"/>
              <a:buNone/>
            </a:pPr>
            <a:r>
              <a:rPr b="1" lang="es-CL" sz="975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685800" y="6858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lang="es-CL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3667125" y="876300"/>
            <a:ext cx="4857750" cy="2533650"/>
          </a:xfrm>
          <a:prstGeom prst="roundRect">
            <a:avLst>
              <a:gd fmla="val 112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1004628"/>
            <a:ext cx="4572000" cy="227699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3"/>
          <p:cNvSpPr/>
          <p:nvPr/>
        </p:nvSpPr>
        <p:spPr>
          <a:xfrm>
            <a:off x="1428750" y="3667125"/>
            <a:ext cx="933450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s-CL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SFI concentra en una sola plataforma ecommerce, el control de inventario, los pagos, la asistencia con IA y la promoción de maestros. Su desarrollo durante 18 semanas permitira construir una solución alineada con las necesidades de Grupo Punto Obra, respaldada por gestión Scrum y pruebas de calidad. El proyecto finaliza dentro del presupuesto y deja una base preparada para su operación, mantención y crecimiento.</a:t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3905250" y="5334000"/>
            <a:ext cx="4381500" cy="38100"/>
          </a:xfrm>
          <a:prstGeom prst="roundRect">
            <a:avLst>
              <a:gd fmla="val 50000" name="adj"/>
            </a:avLst>
          </a:prstGeom>
          <a:solidFill>
            <a:srgbClr val="FFD2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3714750" y="5619750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Sistema Ferretero Inteligente</a:t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lang="es-CL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lang="es-CL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2026-09-10T19:04:04Z</dcterms:created>
  <dc:creator>Walnut Exporter</dc:creator>
</cp:coreProperties>
</file>