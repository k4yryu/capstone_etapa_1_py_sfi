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Requisitos y documentos internos del proyecto SFI proporcionados por el equipo; sin fuentes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Requisitos y documentos internos del proyecto SFI proporcionados por el equipo; sin fuentes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Requisitos y documentos internos del proyecto SFI proporcionados por el equipo; sin fuentes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Requisitos y documentos internos del proyecto SFI proporcionados por el equipo; sin fuentes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CBAD313-D8DC-4AEE-B5C9-DE337EE312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01C96C-E8E0-48F2-BD7B-BC65F8FCE135}"/>
              </a:ext>
            </a:extLst>
          </p:cNvPr>
          <p:cNvSpPr>
            <a:spLocks noGrp="1"/>
          </p:cNvSpPr>
          <p:nvPr/>
        </p:nvSpPr>
        <p:spPr>
          <a:xfrm>
            <a:off x="713232" y="960120"/>
            <a:ext cx="1920240" cy="731520"/>
          </a:xfrm>
          <a:prstGeom prst="rect">
            <a:avLst/>
          </a:prstGeom>
          <a:noFill/>
        </p:spPr>
        <p:txBody>
          <a:bodyPr lIns="0" tIns="0" rIns="0" bIns="0" anchor="ctr">
            <a:normAutofit fontScale="90259" lnSpcReduction="10000"/>
          </a:bodyPr>
          <a:lstStyle/>
          <a:p>
            <a:pPr marL="0" indent="0">
              <a:buNone/>
            </a:pPr>
            <a:r>
              <a:rPr sz="5800" b="1">
                <a:solidFill>
                  <a:srgbClr val="FFC928"/>
                </a:solidFill>
                <a:latin typeface="Aptos Display"/>
                <a:ea typeface="Aptos Display"/>
                <a:cs typeface="Aptos Display"/>
              </a:rPr>
              <a:t>SFI</a:t>
            </a:r>
            <a:endParaRPr sz="5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102A36-7E8D-4130-AD88-4A1516FF5D46}"/>
              </a:ext>
            </a:extLst>
          </p:cNvPr>
          <p:cNvSpPr>
            <a:spLocks noGrp="1"/>
          </p:cNvSpPr>
          <p:nvPr/>
        </p:nvSpPr>
        <p:spPr>
          <a:xfrm>
            <a:off x="749808" y="1719072"/>
            <a:ext cx="5852160" cy="475488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FFFFFF"/>
                </a:solidFill>
              </a:rPr>
              <a:t>Sistema Ferretero Inteligente</a:t>
            </a:r>
            <a:endParaRPr sz="28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2DB59C-45AF-486D-A324-85EE832F5A67}"/>
              </a:ext>
            </a:extLst>
          </p:cNvPr>
          <p:cNvSpPr>
            <a:spLocks noGrp="1"/>
          </p:cNvSpPr>
          <p:nvPr/>
        </p:nvSpPr>
        <p:spPr>
          <a:xfrm>
            <a:off x="768096" y="2359152"/>
            <a:ext cx="5715000" cy="640080"/>
          </a:xfrm>
          <a:prstGeom prst="rect">
            <a:avLst/>
          </a:prstGeom>
          <a:noFill/>
        </p:spPr>
        <p:txBody>
          <a:bodyPr lIns="0" tIns="0" rIns="0" bIns="0" anchor="ctr">
            <a:normAutofit fontScale="85556" lnSpcReduction="10000"/>
          </a:bodyPr>
          <a:lstStyle/>
          <a:p>
            <a:pPr marL="0" indent="0">
              <a:buNone/>
            </a:pPr>
            <a:r>
              <a:rPr sz="1800">
                <a:solidFill>
                  <a:srgbClr val="DDE8F7"/>
                </a:solidFill>
              </a:rPr>
              <a:t>Ecommerce ferretero que convierte una idea de proyecto en orientación, materiales, compra y solicitud de instalación con apoyo de IA.</a:t>
            </a:r>
            <a:endParaRPr sz="1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40BC3E2-403B-4214-B963-FD84C371AB3D}"/>
              </a:ext>
            </a:extLst>
          </p:cNvPr>
          <p:cNvSpPr>
            <a:spLocks noGrp="1"/>
          </p:cNvSpPr>
          <p:nvPr/>
        </p:nvSpPr>
        <p:spPr>
          <a:xfrm rot="1500000">
            <a:off x="7498080" y="731520"/>
            <a:ext cx="3840480" cy="3840480"/>
          </a:xfrm>
          <a:prstGeom prst="arc">
            <a:avLst/>
          </a:prstGeom>
          <a:noFill/>
          <a:ln w="76200">
            <a:solidFill>
              <a:srgbClr val="FFC92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8C582D3-2E4E-4EEC-AE9A-DADB83EDC448}"/>
              </a:ext>
            </a:extLst>
          </p:cNvPr>
          <p:cNvSpPr>
            <a:spLocks noGrp="1"/>
          </p:cNvSpPr>
          <p:nvPr/>
        </p:nvSpPr>
        <p:spPr>
          <a:xfrm>
            <a:off x="8001000" y="1540764"/>
            <a:ext cx="2286000" cy="1965960"/>
          </a:xfrm>
          <a:prstGeom prst="hexagon">
            <a:avLst/>
          </a:prstGeom>
          <a:solidFill>
            <a:srgbClr val="1E5BB8">
              <a:alpha val="98000"/>
            </a:srgbClr>
          </a:solidFill>
          <a:ln w="12700">
            <a:solidFill>
              <a:srgbClr val="DCEA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3F8B6C-8114-447C-8899-8C5E3425EEFA}"/>
              </a:ext>
            </a:extLst>
          </p:cNvPr>
          <p:cNvSpPr>
            <a:spLocks noGrp="1"/>
          </p:cNvSpPr>
          <p:nvPr/>
        </p:nvSpPr>
        <p:spPr>
          <a:xfrm>
            <a:off x="8193024" y="2194560"/>
            <a:ext cx="1901952" cy="658368"/>
          </a:xfrm>
          <a:prstGeom prst="rect">
            <a:avLst/>
          </a:prstGeom>
          <a:noFill/>
        </p:spPr>
        <p:txBody>
          <a:bodyPr lIns="0" tIns="0" rIns="0" bIns="0" anchor="ctr">
            <a:normAutofit fontScale="87251"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</a:rPr>
              <a:t>IA + Ecommerce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</a:rPr>
              <a:t>+ Servicios</a:t>
            </a:r>
            <a:endParaRPr sz="2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7972ECD-1752-4FC3-983D-6491340F9877}"/>
              </a:ext>
            </a:extLst>
          </p:cNvPr>
          <p:cNvSpPr>
            <a:spLocks noGrp="1"/>
          </p:cNvSpPr>
          <p:nvPr/>
        </p:nvSpPr>
        <p:spPr>
          <a:xfrm rot="900000">
            <a:off x="10469880" y="5074920"/>
            <a:ext cx="777240" cy="420624"/>
          </a:xfrm>
          <a:prstGeom prst="chevron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69E1E0D-40B5-4092-92FA-BFE517DD3AF2}"/>
              </a:ext>
            </a:extLst>
          </p:cNvPr>
          <p:cNvSpPr>
            <a:spLocks noGrp="1"/>
          </p:cNvSpPr>
          <p:nvPr/>
        </p:nvSpPr>
        <p:spPr>
          <a:xfrm rot="11700000">
            <a:off x="7452360" y="5257800"/>
            <a:ext cx="777240" cy="420624"/>
          </a:xfrm>
          <a:prstGeom prst="chevron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73BBF5-10AB-4D0D-86CD-22B3ACF94BBA}"/>
              </a:ext>
            </a:extLst>
          </p:cNvPr>
          <p:cNvSpPr>
            <a:spLocks noGrp="1"/>
          </p:cNvSpPr>
          <p:nvPr/>
        </p:nvSpPr>
        <p:spPr>
          <a:xfrm>
            <a:off x="768096" y="3456432"/>
            <a:ext cx="2377440" cy="320040"/>
          </a:xfrm>
          <a:prstGeom prst="rect">
            <a:avLst/>
          </a:prstGeom>
          <a:noFill/>
        </p:spPr>
        <p:txBody>
          <a:bodyPr lIns="0" tIns="0" rIns="0" bIns="0" anchor="ctr">
            <a:normAutofit fontScale="69481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FFC928"/>
                </a:solidFill>
              </a:rPr>
              <a:t>Equipo y responsabilidades Scrum</a:t>
            </a:r>
            <a:endParaRPr sz="18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EA56BEA-95E4-4796-971F-7F967A4F0E0B}"/>
              </a:ext>
            </a:extLst>
          </p:cNvPr>
          <p:cNvSpPr>
            <a:spLocks noGrp="1"/>
          </p:cNvSpPr>
          <p:nvPr/>
        </p:nvSpPr>
        <p:spPr>
          <a:xfrm>
            <a:off x="768096" y="3959352"/>
            <a:ext cx="201168" cy="0"/>
          </a:xfrm>
          <a:prstGeom prst="line">
            <a:avLst/>
          </a:prstGeom>
          <a:noFill/>
          <a:ln w="254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6313DD4-8253-407E-9B75-DCDC3AC37E1E}"/>
              </a:ext>
            </a:extLst>
          </p:cNvPr>
          <p:cNvSpPr>
            <a:spLocks noGrp="1"/>
          </p:cNvSpPr>
          <p:nvPr/>
        </p:nvSpPr>
        <p:spPr>
          <a:xfrm>
            <a:off x="1078992" y="3886200"/>
            <a:ext cx="4709160" cy="228600"/>
          </a:xfrm>
          <a:prstGeom prst="rect">
            <a:avLst/>
          </a:prstGeom>
          <a:noFill/>
        </p:spPr>
        <p:txBody>
          <a:bodyPr lIns="0" tIns="0" rIns="0" bIns="0" anchor="ctr">
            <a:normAutofit fontScale="96774"/>
          </a:bodyPr>
          <a:lstStyle/>
          <a:p>
            <a:pPr marL="0" indent="0">
              <a:buNone/>
            </a:pPr>
            <a:r>
              <a:rPr sz="1550">
                <a:solidFill>
                  <a:srgbClr val="FFFFFF"/>
                </a:solidFill>
              </a:rPr>
              <a:t>Felipe Chávez — Jefe de Proyecto / Product Owner</a:t>
            </a:r>
            <a:endParaRPr sz="15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B4B2852-E847-4B33-8DB2-001D7C4A1940}"/>
              </a:ext>
            </a:extLst>
          </p:cNvPr>
          <p:cNvSpPr>
            <a:spLocks noGrp="1"/>
          </p:cNvSpPr>
          <p:nvPr/>
        </p:nvSpPr>
        <p:spPr>
          <a:xfrm>
            <a:off x="768096" y="4471416"/>
            <a:ext cx="201168" cy="0"/>
          </a:xfrm>
          <a:prstGeom prst="line">
            <a:avLst/>
          </a:prstGeom>
          <a:noFill/>
          <a:ln w="254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96E709D-F727-43D9-B02A-4CF1D8B6442F}"/>
              </a:ext>
            </a:extLst>
          </p:cNvPr>
          <p:cNvSpPr>
            <a:spLocks noGrp="1"/>
          </p:cNvSpPr>
          <p:nvPr/>
        </p:nvSpPr>
        <p:spPr>
          <a:xfrm>
            <a:off x="1078992" y="4398264"/>
            <a:ext cx="4709160" cy="228600"/>
          </a:xfrm>
          <a:prstGeom prst="rect">
            <a:avLst/>
          </a:prstGeom>
          <a:noFill/>
        </p:spPr>
        <p:txBody>
          <a:bodyPr lIns="0" tIns="0" rIns="0" bIns="0" anchor="ctr">
            <a:normAutofit fontScale="96774"/>
          </a:bodyPr>
          <a:lstStyle/>
          <a:p>
            <a:pPr marL="0" indent="0">
              <a:buNone/>
            </a:pPr>
            <a:r>
              <a:rPr sz="1550">
                <a:solidFill>
                  <a:srgbClr val="FFFFFF"/>
                </a:solidFill>
              </a:rPr>
              <a:t>Franco Miranda — QA / Scrum Master</a:t>
            </a:r>
            <a:endParaRPr sz="15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C7A3E23-C0D4-45D8-BD3C-87D570DBD579}"/>
              </a:ext>
            </a:extLst>
          </p:cNvPr>
          <p:cNvSpPr>
            <a:spLocks noGrp="1"/>
          </p:cNvSpPr>
          <p:nvPr/>
        </p:nvSpPr>
        <p:spPr>
          <a:xfrm>
            <a:off x="768096" y="4983480"/>
            <a:ext cx="201168" cy="0"/>
          </a:xfrm>
          <a:prstGeom prst="line">
            <a:avLst/>
          </a:prstGeom>
          <a:noFill/>
          <a:ln w="254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FF0209F-872B-44D8-B65D-1523B41D61CD}"/>
              </a:ext>
            </a:extLst>
          </p:cNvPr>
          <p:cNvSpPr>
            <a:spLocks noGrp="1"/>
          </p:cNvSpPr>
          <p:nvPr/>
        </p:nvSpPr>
        <p:spPr>
          <a:xfrm>
            <a:off x="1078992" y="4910328"/>
            <a:ext cx="4709160" cy="228600"/>
          </a:xfrm>
          <a:prstGeom prst="rect">
            <a:avLst/>
          </a:prstGeom>
          <a:noFill/>
        </p:spPr>
        <p:txBody>
          <a:bodyPr lIns="0" tIns="0" rIns="0" bIns="0" anchor="ctr">
            <a:normAutofit fontScale="96774"/>
          </a:bodyPr>
          <a:lstStyle/>
          <a:p>
            <a:pPr marL="0" indent="0">
              <a:buNone/>
            </a:pPr>
            <a:r>
              <a:rPr sz="1550">
                <a:solidFill>
                  <a:srgbClr val="FFFFFF"/>
                </a:solidFill>
              </a:rPr>
              <a:t>Vicente Palma — Diseño UX/UI y Frontend</a:t>
            </a:r>
            <a:endParaRPr sz="15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F92479A-F74E-4A88-B6B9-E9884414235C}"/>
              </a:ext>
            </a:extLst>
          </p:cNvPr>
          <p:cNvSpPr>
            <a:spLocks noGrp="1"/>
          </p:cNvSpPr>
          <p:nvPr/>
        </p:nvSpPr>
        <p:spPr>
          <a:xfrm>
            <a:off x="768096" y="5495544"/>
            <a:ext cx="201168" cy="0"/>
          </a:xfrm>
          <a:prstGeom prst="line">
            <a:avLst/>
          </a:prstGeom>
          <a:noFill/>
          <a:ln w="254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5D7B06D-5CEE-43E3-BC21-E9B69DA30363}"/>
              </a:ext>
            </a:extLst>
          </p:cNvPr>
          <p:cNvSpPr>
            <a:spLocks noGrp="1"/>
          </p:cNvSpPr>
          <p:nvPr/>
        </p:nvSpPr>
        <p:spPr>
          <a:xfrm>
            <a:off x="1078992" y="5422392"/>
            <a:ext cx="4709160" cy="228600"/>
          </a:xfrm>
          <a:prstGeom prst="rect">
            <a:avLst/>
          </a:prstGeom>
          <a:noFill/>
        </p:spPr>
        <p:txBody>
          <a:bodyPr lIns="0" tIns="0" rIns="0" bIns="0" anchor="ctr">
            <a:normAutofit fontScale="96774"/>
          </a:bodyPr>
          <a:lstStyle/>
          <a:p>
            <a:pPr marL="0" indent="0">
              <a:buNone/>
            </a:pPr>
            <a:r>
              <a:rPr sz="1550">
                <a:solidFill>
                  <a:srgbClr val="FFFFFF"/>
                </a:solidFill>
              </a:rPr>
              <a:t>Alonso Urrutia — IA, Backend e Infraestructura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31896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DA6BD6-3842-4A50-9615-E8FF4635CA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2E90A4-A63C-44D2-8EB1-AC8414F29D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44C0F9-EE98-437F-97DE-45D2D60D8E0C}"/>
              </a:ext>
            </a:extLst>
          </p:cNvPr>
          <p:cNvSpPr>
            <a:spLocks noGrp="1"/>
          </p:cNvSpPr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4F0379-7066-452E-B619-9C7CD80849FE}"/>
              </a:ext>
            </a:extLst>
          </p:cNvPr>
          <p:cNvSpPr>
            <a:spLocks noGrp="1"/>
          </p:cNvSpPr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De la consulta a la ejecución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A855AA-7CA1-48E7-8ED5-B773DDA165E7}"/>
              </a:ext>
            </a:extLst>
          </p:cNvPr>
          <p:cNvSpPr>
            <a:spLocks noGrp="1"/>
          </p:cNvSpPr>
          <p:nvPr/>
        </p:nvSpPr>
        <p:spPr>
          <a:xfrm>
            <a:off x="704088" y="1033272"/>
            <a:ext cx="8046720" cy="292608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5F6B7A"/>
                </a:solidFill>
              </a:rPr>
              <a:t>Una experiencia integrada para clientes, ferreterías y maestros registrados.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78F790-E4B0-4CA8-94D8-056FCDDC7832}"/>
              </a:ext>
            </a:extLst>
          </p:cNvPr>
          <p:cNvSpPr>
            <a:spLocks noGrp="1"/>
          </p:cNvSpPr>
          <p:nvPr/>
        </p:nvSpPr>
        <p:spPr>
          <a:xfrm>
            <a:off x="749808" y="1755648"/>
            <a:ext cx="6492240" cy="960120"/>
          </a:xfrm>
          <a:prstGeom prst="rect">
            <a:avLst/>
          </a:prstGeom>
          <a:noFill/>
        </p:spPr>
        <p:txBody>
          <a:bodyPr lIns="508" tIns="508" rIns="508" bIns="508" anchor="ctr">
            <a:normAutofit fontScale="78119" lnSpcReduction="20000"/>
          </a:bodyPr>
          <a:lstStyle/>
          <a:p>
            <a:pPr marL="0" indent="0">
              <a:buNone/>
            </a:pPr>
            <a:r>
              <a:rPr sz="2300" b="1">
                <a:solidFill>
                  <a:srgbClr val="0B1F3A"/>
                </a:solidFill>
              </a:rPr>
              <a:t>Muchas personas quieren reparar o construir, pero no conocen los materiales, cantidades ni pasos necesarios. Esa incertidumbre dificulta la compra y puede elevar costos o generar errores.</a:t>
            </a:r>
            <a:endParaRPr sz="23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14C3B5-F5F2-47D3-A7FE-ED26DE0B1218}"/>
              </a:ext>
            </a:extLst>
          </p:cNvPr>
          <p:cNvSpPr>
            <a:spLocks noGrp="1"/>
          </p:cNvSpPr>
          <p:nvPr/>
        </p:nvSpPr>
        <p:spPr>
          <a:xfrm>
            <a:off x="747065" y="3022093"/>
            <a:ext cx="6217920" cy="822960"/>
          </a:xfrm>
          <a:prstGeom prst="rect">
            <a:avLst/>
          </a:prstGeom>
          <a:noFill/>
        </p:spPr>
        <p:txBody>
          <a:bodyPr lIns="381" tIns="381" rIns="381" bIns="381" anchor="ctr">
            <a:normAutofit fontScale="98110" lnSpcReduction="10000"/>
          </a:bodyPr>
          <a:lstStyle/>
          <a:p>
            <a:pPr marL="0" indent="0">
              <a:buNone/>
            </a:pPr>
            <a:r>
              <a:rPr sz="1800">
                <a:solidFill>
                  <a:srgbClr val="132033"/>
                </a:solidFill>
              </a:rPr>
              <a:t>SFI centraliza catálogo, orientación conversacional, compra y contratación de mano de obra. La ferretería administra su oferta y el cliente sigue el proyecto desde una sola plataforma.</a:t>
            </a:r>
            <a:endParaRPr sz="18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5BAB14-3540-484B-A2A7-DF861F879F26}"/>
              </a:ext>
            </a:extLst>
          </p:cNvPr>
          <p:cNvSpPr>
            <a:spLocks noGrp="1"/>
          </p:cNvSpPr>
          <p:nvPr/>
        </p:nvSpPr>
        <p:spPr>
          <a:xfrm>
            <a:off x="868680" y="4572000"/>
            <a:ext cx="914400" cy="91440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92D221B-349F-4C75-BC73-CB7DE36D1F4F}"/>
              </a:ext>
            </a:extLst>
          </p:cNvPr>
          <p:cNvSpPr>
            <a:spLocks noGrp="1"/>
          </p:cNvSpPr>
          <p:nvPr/>
        </p:nvSpPr>
        <p:spPr>
          <a:xfrm>
            <a:off x="1179576" y="4809744"/>
            <a:ext cx="292608" cy="219456"/>
          </a:xfrm>
          <a:prstGeom prst="rect">
            <a:avLst/>
          </a:prstGeom>
          <a:noFill/>
        </p:spPr>
        <p:txBody>
          <a:bodyPr lIns="0" tIns="0" rIns="0" bIns="0" anchor="ctr">
            <a:normAutofit fontScale="87500" lnSpcReduction="2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B1F3A"/>
                </a:solidFill>
              </a:rPr>
              <a:t>1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4E61F4-7D02-49F6-8F61-B39CC8314E61}"/>
              </a:ext>
            </a:extLst>
          </p:cNvPr>
          <p:cNvSpPr>
            <a:spLocks noGrp="1"/>
          </p:cNvSpPr>
          <p:nvPr/>
        </p:nvSpPr>
        <p:spPr>
          <a:xfrm>
            <a:off x="365760" y="5623560"/>
            <a:ext cx="1920240" cy="292608"/>
          </a:xfrm>
          <a:prstGeom prst="rect">
            <a:avLst/>
          </a:prstGeom>
          <a:noFill/>
        </p:spPr>
        <p:txBody>
          <a:bodyPr lIns="0" tIns="0" rIns="0" bIns="0" anchor="ctr">
            <a:normAutofit fontScale="66207" lnSpcReduction="10000"/>
          </a:bodyPr>
          <a:lstStyle/>
          <a:p>
            <a:pPr marL="0" indent="0" algn="ctr">
              <a:buNone/>
            </a:pPr>
            <a:r>
              <a:rPr sz="1450" b="1">
                <a:solidFill>
                  <a:srgbClr val="0B1F3A"/>
                </a:solidFill>
              </a:rPr>
              <a:t>Cliente describe</a:t>
            </a:r>
            <a:endParaRPr sz="1450"/>
          </a:p>
          <a:p>
            <a:pPr marL="0" indent="0" algn="ctr">
              <a:buNone/>
            </a:pPr>
            <a:r>
              <a:rPr sz="1450" b="1">
                <a:solidFill>
                  <a:srgbClr val="0B1F3A"/>
                </a:solidFill>
              </a:rPr>
              <a:t>su proyecto</a:t>
            </a:r>
            <a:endParaRPr sz="14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3832072-6B30-44E4-B8B9-EE7A6F418E89}"/>
              </a:ext>
            </a:extLst>
          </p:cNvPr>
          <p:cNvSpPr>
            <a:spLocks noGrp="1"/>
          </p:cNvSpPr>
          <p:nvPr/>
        </p:nvSpPr>
        <p:spPr>
          <a:xfrm>
            <a:off x="1947672" y="5029200"/>
            <a:ext cx="1097280" cy="0"/>
          </a:xfrm>
          <a:prstGeom prst="line">
            <a:avLst/>
          </a:prstGeom>
          <a:noFill/>
          <a:ln w="50800">
            <a:solidFill>
              <a:srgbClr val="DCEA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0C0FEA2-3E91-462C-A7BC-7D205471C87F}"/>
              </a:ext>
            </a:extLst>
          </p:cNvPr>
          <p:cNvSpPr>
            <a:spLocks noGrp="1"/>
          </p:cNvSpPr>
          <p:nvPr/>
        </p:nvSpPr>
        <p:spPr>
          <a:xfrm>
            <a:off x="3337560" y="4572000"/>
            <a:ext cx="914400" cy="91440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8AAD6B9-217D-4EBC-AA53-F1BA12C2FFE7}"/>
              </a:ext>
            </a:extLst>
          </p:cNvPr>
          <p:cNvSpPr>
            <a:spLocks noGrp="1"/>
          </p:cNvSpPr>
          <p:nvPr/>
        </p:nvSpPr>
        <p:spPr>
          <a:xfrm>
            <a:off x="3648456" y="4809744"/>
            <a:ext cx="292608" cy="219456"/>
          </a:xfrm>
          <a:prstGeom prst="rect">
            <a:avLst/>
          </a:prstGeom>
          <a:noFill/>
        </p:spPr>
        <p:txBody>
          <a:bodyPr lIns="0" tIns="0" rIns="0" bIns="0" anchor="ctr">
            <a:normAutofit fontScale="87500" lnSpcReduction="2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2</a:t>
            </a:r>
            <a:endParaRPr sz="18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E250029-20FF-4A56-AC79-CE64C1B449B5}"/>
              </a:ext>
            </a:extLst>
          </p:cNvPr>
          <p:cNvSpPr>
            <a:spLocks noGrp="1"/>
          </p:cNvSpPr>
          <p:nvPr/>
        </p:nvSpPr>
        <p:spPr>
          <a:xfrm>
            <a:off x="2834640" y="5623560"/>
            <a:ext cx="1920240" cy="292608"/>
          </a:xfrm>
          <a:prstGeom prst="rect">
            <a:avLst/>
          </a:prstGeom>
          <a:noFill/>
        </p:spPr>
        <p:txBody>
          <a:bodyPr lIns="0" tIns="0" rIns="0" bIns="0" anchor="ctr">
            <a:normAutofit fontScale="66207" lnSpcReduction="10000"/>
          </a:bodyPr>
          <a:lstStyle/>
          <a:p>
            <a:pPr marL="0" indent="0" algn="ctr">
              <a:buNone/>
            </a:pPr>
            <a:r>
              <a:rPr sz="1450" b="1">
                <a:solidFill>
                  <a:srgbClr val="0B1F3A"/>
                </a:solidFill>
              </a:rPr>
              <a:t>IA recomienda</a:t>
            </a:r>
            <a:endParaRPr sz="1450"/>
          </a:p>
          <a:p>
            <a:pPr marL="0" indent="0" algn="ctr">
              <a:buNone/>
            </a:pPr>
            <a:r>
              <a:rPr sz="1450" b="1">
                <a:solidFill>
                  <a:srgbClr val="0B1F3A"/>
                </a:solidFill>
              </a:rPr>
              <a:t>materiales y cantidades</a:t>
            </a:r>
            <a:endParaRPr sz="14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4098B16-2550-4C14-B2DF-9B2955357F75}"/>
              </a:ext>
            </a:extLst>
          </p:cNvPr>
          <p:cNvSpPr>
            <a:spLocks noGrp="1"/>
          </p:cNvSpPr>
          <p:nvPr/>
        </p:nvSpPr>
        <p:spPr>
          <a:xfrm>
            <a:off x="4416552" y="5029200"/>
            <a:ext cx="1097280" cy="0"/>
          </a:xfrm>
          <a:prstGeom prst="line">
            <a:avLst/>
          </a:prstGeom>
          <a:noFill/>
          <a:ln w="50800">
            <a:solidFill>
              <a:srgbClr val="DCEA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505357F-6E6E-40DD-8EB4-75D90677601B}"/>
              </a:ext>
            </a:extLst>
          </p:cNvPr>
          <p:cNvSpPr>
            <a:spLocks noGrp="1"/>
          </p:cNvSpPr>
          <p:nvPr/>
        </p:nvSpPr>
        <p:spPr>
          <a:xfrm>
            <a:off x="5806440" y="4572000"/>
            <a:ext cx="914400" cy="91440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28DFF1-E780-480F-9439-B95F1DB1A088}"/>
              </a:ext>
            </a:extLst>
          </p:cNvPr>
          <p:cNvSpPr>
            <a:spLocks noGrp="1"/>
          </p:cNvSpPr>
          <p:nvPr/>
        </p:nvSpPr>
        <p:spPr>
          <a:xfrm>
            <a:off x="6117336" y="4809744"/>
            <a:ext cx="292608" cy="219456"/>
          </a:xfrm>
          <a:prstGeom prst="rect">
            <a:avLst/>
          </a:prstGeom>
          <a:noFill/>
        </p:spPr>
        <p:txBody>
          <a:bodyPr lIns="0" tIns="0" rIns="0" bIns="0" anchor="ctr">
            <a:normAutofit fontScale="87500" lnSpcReduction="2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B1F3A"/>
                </a:solidFill>
              </a:rPr>
              <a:t>3</a:t>
            </a:r>
            <a:endParaRPr sz="18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F958C24-7BA8-43E5-8A21-8846F63231ED}"/>
              </a:ext>
            </a:extLst>
          </p:cNvPr>
          <p:cNvSpPr>
            <a:spLocks noGrp="1"/>
          </p:cNvSpPr>
          <p:nvPr/>
        </p:nvSpPr>
        <p:spPr>
          <a:xfrm>
            <a:off x="5303520" y="5623560"/>
            <a:ext cx="1920240" cy="292608"/>
          </a:xfrm>
          <a:prstGeom prst="rect">
            <a:avLst/>
          </a:prstGeom>
          <a:noFill/>
        </p:spPr>
        <p:txBody>
          <a:bodyPr lIns="0" tIns="0" rIns="0" bIns="0" anchor="ctr">
            <a:normAutofit fontScale="66207" lnSpcReduction="10000"/>
          </a:bodyPr>
          <a:lstStyle/>
          <a:p>
            <a:pPr marL="0" indent="0" algn="ctr">
              <a:buNone/>
            </a:pPr>
            <a:r>
              <a:rPr sz="1450" b="1">
                <a:solidFill>
                  <a:srgbClr val="0B1F3A"/>
                </a:solidFill>
              </a:rPr>
              <a:t>Compra y solicita</a:t>
            </a:r>
            <a:endParaRPr sz="1450"/>
          </a:p>
          <a:p>
            <a:pPr marL="0" indent="0" algn="ctr">
              <a:buNone/>
            </a:pPr>
            <a:r>
              <a:rPr sz="1450" b="1">
                <a:solidFill>
                  <a:srgbClr val="0B1F3A"/>
                </a:solidFill>
              </a:rPr>
              <a:t>instalación</a:t>
            </a:r>
            <a:endParaRPr sz="14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6F81B1A-4F62-4271-BF01-8A911A2D2363}"/>
              </a:ext>
            </a:extLst>
          </p:cNvPr>
          <p:cNvSpPr>
            <a:spLocks noGrp="1"/>
          </p:cNvSpPr>
          <p:nvPr/>
        </p:nvSpPr>
        <p:spPr>
          <a:xfrm>
            <a:off x="6885432" y="5029200"/>
            <a:ext cx="1097280" cy="0"/>
          </a:xfrm>
          <a:prstGeom prst="line">
            <a:avLst/>
          </a:prstGeom>
          <a:noFill/>
          <a:ln w="50800">
            <a:solidFill>
              <a:srgbClr val="DCEA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E5AFAC5-79AF-4163-8FE5-AEA3B40516D0}"/>
              </a:ext>
            </a:extLst>
          </p:cNvPr>
          <p:cNvSpPr>
            <a:spLocks noGrp="1"/>
          </p:cNvSpPr>
          <p:nvPr/>
        </p:nvSpPr>
        <p:spPr>
          <a:xfrm>
            <a:off x="8275320" y="4572000"/>
            <a:ext cx="914400" cy="91440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A42091C-45F1-4EC5-89B3-92610936AABB}"/>
              </a:ext>
            </a:extLst>
          </p:cNvPr>
          <p:cNvSpPr>
            <a:spLocks noGrp="1"/>
          </p:cNvSpPr>
          <p:nvPr/>
        </p:nvSpPr>
        <p:spPr>
          <a:xfrm>
            <a:off x="8586216" y="4809744"/>
            <a:ext cx="292608" cy="219456"/>
          </a:xfrm>
          <a:prstGeom prst="rect">
            <a:avLst/>
          </a:prstGeom>
          <a:noFill/>
        </p:spPr>
        <p:txBody>
          <a:bodyPr lIns="0" tIns="0" rIns="0" bIns="0" anchor="ctr">
            <a:normAutofit fontScale="87500" lnSpcReduction="2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4</a:t>
            </a:r>
            <a:endParaRPr sz="18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6525B3A-A449-4497-9354-8B976F4B0D81}"/>
              </a:ext>
            </a:extLst>
          </p:cNvPr>
          <p:cNvSpPr>
            <a:spLocks noGrp="1"/>
          </p:cNvSpPr>
          <p:nvPr/>
        </p:nvSpPr>
        <p:spPr>
          <a:xfrm>
            <a:off x="7772400" y="5623560"/>
            <a:ext cx="1920240" cy="292608"/>
          </a:xfrm>
          <a:prstGeom prst="rect">
            <a:avLst/>
          </a:prstGeom>
          <a:noFill/>
        </p:spPr>
        <p:txBody>
          <a:bodyPr lIns="0" tIns="0" rIns="0" bIns="0" anchor="ctr">
            <a:normAutofit fontScale="66207" lnSpcReduction="10000"/>
          </a:bodyPr>
          <a:lstStyle/>
          <a:p>
            <a:pPr marL="0" indent="0" algn="ctr">
              <a:buNone/>
            </a:pPr>
            <a:r>
              <a:rPr sz="1450" b="1">
                <a:solidFill>
                  <a:srgbClr val="0B1F3A"/>
                </a:solidFill>
              </a:rPr>
              <a:t>Maestro acepta y</a:t>
            </a:r>
            <a:endParaRPr sz="1450"/>
          </a:p>
          <a:p>
            <a:pPr marL="0" indent="0" algn="ctr">
              <a:buNone/>
            </a:pPr>
            <a:r>
              <a:rPr sz="1450" b="1">
                <a:solidFill>
                  <a:srgbClr val="0B1F3A"/>
                </a:solidFill>
              </a:rPr>
              <a:t>ejecuta el trabajo</a:t>
            </a:r>
            <a:endParaRPr sz="14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ADFE462-697E-4C3E-B0CA-A7989CBB35C9}"/>
              </a:ext>
            </a:extLst>
          </p:cNvPr>
          <p:cNvSpPr>
            <a:spLocks noGrp="1"/>
          </p:cNvSpPr>
          <p:nvPr/>
        </p:nvSpPr>
        <p:spPr>
          <a:xfrm>
            <a:off x="7955280" y="141732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FF4C7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F19F962-6223-4FF8-9E41-02937B104D0F}"/>
              </a:ext>
            </a:extLst>
          </p:cNvPr>
          <p:cNvSpPr>
            <a:spLocks noGrp="1"/>
          </p:cNvSpPr>
          <p:nvPr/>
        </p:nvSpPr>
        <p:spPr>
          <a:xfrm>
            <a:off x="8275320" y="1755648"/>
            <a:ext cx="2560320" cy="310896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0B1F3A"/>
                </a:solidFill>
              </a:rPr>
              <a:t>Propuesta de valor</a:t>
            </a:r>
            <a:endParaRPr sz="20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0FDFD33-3185-4FE2-9CA5-16480DCF0E5E}"/>
              </a:ext>
            </a:extLst>
          </p:cNvPr>
          <p:cNvSpPr>
            <a:spLocks noGrp="1"/>
          </p:cNvSpPr>
          <p:nvPr/>
        </p:nvSpPr>
        <p:spPr>
          <a:xfrm>
            <a:off x="8275320" y="2331720"/>
            <a:ext cx="2606040" cy="822960"/>
          </a:xfrm>
          <a:prstGeom prst="rect">
            <a:avLst/>
          </a:prstGeom>
          <a:noFill/>
        </p:spPr>
        <p:txBody>
          <a:bodyPr lIns="508" tIns="508" rIns="508" bIns="508" anchor="ctr">
            <a:normAutofit fontScale="84548" lnSpcReduction="20000"/>
          </a:bodyPr>
          <a:lstStyle/>
          <a:p>
            <a:pPr marL="0" indent="0" algn="ctr">
              <a:buNone/>
            </a:pPr>
            <a:r>
              <a:rPr sz="1750">
                <a:solidFill>
                  <a:srgbClr val="132033"/>
                </a:solidFill>
              </a:rPr>
              <a:t>Reducir la fricción de compra, orientar decisiones y generar oportunidades de servicio para maestros registrados.</a:t>
            </a:r>
            <a:endParaRPr sz="1750"/>
          </a:p>
        </p:txBody>
      </p:sp>
    </p:spTree>
    <p:extLst>
      <p:ext uri="{BB962C8B-B14F-4D97-AF65-F5344CB8AC3E}">
        <p14:creationId xmlns:p14="http://schemas.microsoft.com/office/powerpoint/2010/main" val="15944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8FCC58-D7BB-4BE9-9E60-6478963FE6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F4DAEF-87CF-4770-83BF-F05240EDC8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BB91E4-294A-4D1A-A0D7-6AE9DFC3E132}"/>
              </a:ext>
            </a:extLst>
          </p:cNvPr>
          <p:cNvSpPr>
            <a:spLocks noGrp="1"/>
          </p:cNvSpPr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5890FA-2476-4712-9D0D-30DE63F3FE08}"/>
              </a:ext>
            </a:extLst>
          </p:cNvPr>
          <p:cNvSpPr>
            <a:spLocks noGrp="1"/>
          </p:cNvSpPr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Alcance funcional del MVP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7D941B-257D-42E8-91CD-40124CC46111}"/>
              </a:ext>
            </a:extLst>
          </p:cNvPr>
          <p:cNvSpPr>
            <a:spLocks noGrp="1"/>
          </p:cNvSpPr>
          <p:nvPr/>
        </p:nvSpPr>
        <p:spPr>
          <a:xfrm>
            <a:off x="704088" y="1033272"/>
            <a:ext cx="8046720" cy="292608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5F6B7A"/>
                </a:solidFill>
              </a:rPr>
              <a:t>Primera versión operativa para validar el modelo con ferreterías de Quilicura.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4F6980-CB7B-4F4E-8EBC-86B58D2BD162}"/>
              </a:ext>
            </a:extLst>
          </p:cNvPr>
          <p:cNvSpPr>
            <a:spLocks noGrp="1"/>
          </p:cNvSpPr>
          <p:nvPr/>
        </p:nvSpPr>
        <p:spPr>
          <a:xfrm>
            <a:off x="694944" y="1600200"/>
            <a:ext cx="10789920" cy="5486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15343C-7661-4394-8BA1-1BDB58F1A401}"/>
              </a:ext>
            </a:extLst>
          </p:cNvPr>
          <p:cNvSpPr>
            <a:spLocks noGrp="1"/>
          </p:cNvSpPr>
          <p:nvPr/>
        </p:nvSpPr>
        <p:spPr>
          <a:xfrm>
            <a:off x="758952" y="18745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84B5C6-AB9F-4BD6-BC38-B25F0342D8F6}"/>
              </a:ext>
            </a:extLst>
          </p:cNvPr>
          <p:cNvSpPr>
            <a:spLocks noGrp="1"/>
          </p:cNvSpPr>
          <p:nvPr/>
        </p:nvSpPr>
        <p:spPr>
          <a:xfrm>
            <a:off x="868680" y="1947672"/>
            <a:ext cx="923544" cy="146304"/>
          </a:xfrm>
          <a:prstGeom prst="rect">
            <a:avLst/>
          </a:prstGeom>
          <a:noFill/>
        </p:spPr>
        <p:txBody>
          <a:bodyPr lIns="0" tIns="0" rIns="0" bIns="0" anchor="ctr">
            <a:normAutofit fontScale="91429" lnSpcReduction="10000"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0B1F3A"/>
                </a:solidFill>
              </a:rPr>
              <a:t>INCLUYE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502401E-918C-4B06-BFDA-8E03991ECF3D}"/>
              </a:ext>
            </a:extLst>
          </p:cNvPr>
          <p:cNvSpPr>
            <a:spLocks noGrp="1"/>
          </p:cNvSpPr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EABF67F-9FBB-4AEC-B05B-299912AC87C7}"/>
              </a:ext>
            </a:extLst>
          </p:cNvPr>
          <p:cNvSpPr>
            <a:spLocks noGrp="1"/>
          </p:cNvSpPr>
          <p:nvPr/>
        </p:nvSpPr>
        <p:spPr>
          <a:xfrm>
            <a:off x="1024128" y="2423160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2796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Ecommerce: catálogo, búsqueda, carrito, pago y seguimiento de pedidos.</a:t>
            </a:r>
            <a:endParaRPr sz="17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0513DAB-F67B-4D64-A041-A42EB4EC831E}"/>
              </a:ext>
            </a:extLst>
          </p:cNvPr>
          <p:cNvSpPr>
            <a:spLocks noGrp="1"/>
          </p:cNvSpPr>
          <p:nvPr/>
        </p:nvSpPr>
        <p:spPr>
          <a:xfrm>
            <a:off x="822960" y="2980944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CA7016-D793-45CF-B3F1-DFB33601DEF9}"/>
              </a:ext>
            </a:extLst>
          </p:cNvPr>
          <p:cNvSpPr>
            <a:spLocks noGrp="1"/>
          </p:cNvSpPr>
          <p:nvPr/>
        </p:nvSpPr>
        <p:spPr>
          <a:xfrm>
            <a:off x="1024128" y="2907792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4296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Chatbot de IA: interpreta la necesidad y propone materiales de forma preliminar.</a:t>
            </a:r>
            <a:endParaRPr sz="17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0124F07-C7C9-47AE-9376-B5ADD93687B9}"/>
              </a:ext>
            </a:extLst>
          </p:cNvPr>
          <p:cNvSpPr>
            <a:spLocks noGrp="1"/>
          </p:cNvSpPr>
          <p:nvPr/>
        </p:nvSpPr>
        <p:spPr>
          <a:xfrm>
            <a:off x="822960" y="3465576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0618AE-BD5B-4BA0-B53C-A9AE38468AFE}"/>
              </a:ext>
            </a:extLst>
          </p:cNvPr>
          <p:cNvSpPr>
            <a:spLocks noGrp="1"/>
          </p:cNvSpPr>
          <p:nvPr/>
        </p:nvSpPr>
        <p:spPr>
          <a:xfrm>
            <a:off x="1024128" y="3392424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6101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Perfiles diferenciados para clientes, ferreterías y maestros verificados.</a:t>
            </a:r>
            <a:endParaRPr sz="17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63F4947-8D47-419C-8A50-F4244E790865}"/>
              </a:ext>
            </a:extLst>
          </p:cNvPr>
          <p:cNvSpPr>
            <a:spLocks noGrp="1"/>
          </p:cNvSpPr>
          <p:nvPr/>
        </p:nvSpPr>
        <p:spPr>
          <a:xfrm>
            <a:off x="822960" y="3950208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6F8FDA3-0295-4E4D-8799-21BA8E6A1BDE}"/>
              </a:ext>
            </a:extLst>
          </p:cNvPr>
          <p:cNvSpPr>
            <a:spLocks noGrp="1"/>
          </p:cNvSpPr>
          <p:nvPr/>
        </p:nvSpPr>
        <p:spPr>
          <a:xfrm>
            <a:off x="1024128" y="3877056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Autofit/>
          </a:bodyPr>
          <a:lstStyle/>
          <a:p>
            <a:pPr marL="0" indent="0">
              <a:buNone/>
            </a:pPr>
            <a:r>
              <a:rPr sz="1300" dirty="0">
                <a:solidFill>
                  <a:srgbClr val="132033"/>
                </a:solidFill>
              </a:rPr>
              <a:t>Solicitudes de </a:t>
            </a:r>
            <a:r>
              <a:rPr sz="1300" dirty="0" err="1">
                <a:solidFill>
                  <a:srgbClr val="132033"/>
                </a:solidFill>
              </a:rPr>
              <a:t>servicio</a:t>
            </a:r>
            <a:r>
              <a:rPr sz="1300" dirty="0">
                <a:solidFill>
                  <a:srgbClr val="132033"/>
                </a:solidFill>
              </a:rPr>
              <a:t>: </a:t>
            </a:r>
            <a:r>
              <a:rPr sz="1300" dirty="0" err="1">
                <a:solidFill>
                  <a:srgbClr val="132033"/>
                </a:solidFill>
              </a:rPr>
              <a:t>cotización</a:t>
            </a:r>
            <a:r>
              <a:rPr sz="1300" dirty="0">
                <a:solidFill>
                  <a:srgbClr val="132033"/>
                </a:solidFill>
              </a:rPr>
              <a:t>, </a:t>
            </a:r>
            <a:r>
              <a:rPr sz="1300" dirty="0" err="1">
                <a:solidFill>
                  <a:srgbClr val="132033"/>
                </a:solidFill>
              </a:rPr>
              <a:t>asignación</a:t>
            </a:r>
            <a:r>
              <a:rPr sz="1300" dirty="0">
                <a:solidFill>
                  <a:srgbClr val="132033"/>
                </a:solidFill>
              </a:rPr>
              <a:t>, </a:t>
            </a:r>
            <a:r>
              <a:rPr sz="1300" dirty="0" err="1">
                <a:solidFill>
                  <a:srgbClr val="132033"/>
                </a:solidFill>
              </a:rPr>
              <a:t>estado</a:t>
            </a:r>
            <a:r>
              <a:rPr sz="1300" dirty="0">
                <a:solidFill>
                  <a:srgbClr val="132033"/>
                </a:solidFill>
              </a:rPr>
              <a:t> y </a:t>
            </a:r>
            <a:r>
              <a:rPr sz="1300" dirty="0" err="1">
                <a:solidFill>
                  <a:srgbClr val="132033"/>
                </a:solidFill>
              </a:rPr>
              <a:t>evaluación</a:t>
            </a:r>
            <a:r>
              <a:rPr sz="1300" dirty="0">
                <a:solidFill>
                  <a:srgbClr val="132033"/>
                </a:solidFill>
              </a:rPr>
              <a:t> del </a:t>
            </a:r>
            <a:r>
              <a:rPr sz="1300" dirty="0" err="1">
                <a:solidFill>
                  <a:srgbClr val="132033"/>
                </a:solidFill>
              </a:rPr>
              <a:t>trabajo</a:t>
            </a:r>
            <a:r>
              <a:rPr sz="1300" dirty="0">
                <a:solidFill>
                  <a:srgbClr val="132033"/>
                </a:solidFill>
              </a:rPr>
              <a:t>.</a:t>
            </a:r>
            <a:endParaRPr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31DF8FD-662C-410E-A4D0-16530EA3B893}"/>
              </a:ext>
            </a:extLst>
          </p:cNvPr>
          <p:cNvSpPr>
            <a:spLocks noGrp="1"/>
          </p:cNvSpPr>
          <p:nvPr/>
        </p:nvSpPr>
        <p:spPr>
          <a:xfrm>
            <a:off x="822960" y="4434840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4B9397C-673F-4C08-AB9B-7B3FACAC706A}"/>
              </a:ext>
            </a:extLst>
          </p:cNvPr>
          <p:cNvSpPr>
            <a:spLocks noGrp="1"/>
          </p:cNvSpPr>
          <p:nvPr/>
        </p:nvSpPr>
        <p:spPr>
          <a:xfrm>
            <a:off x="1024128" y="4361688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5814" lnSpcReduction="20000"/>
          </a:bodyPr>
          <a:lstStyle/>
          <a:p>
            <a:pPr marL="0" indent="0">
              <a:buNone/>
            </a:pPr>
            <a:r>
              <a:rPr sz="1700" dirty="0">
                <a:solidFill>
                  <a:srgbClr val="132033"/>
                </a:solidFill>
              </a:rPr>
              <a:t>Administración de </a:t>
            </a:r>
            <a:r>
              <a:rPr sz="1700" dirty="0" err="1">
                <a:solidFill>
                  <a:srgbClr val="132033"/>
                </a:solidFill>
              </a:rPr>
              <a:t>productos</a:t>
            </a:r>
            <a:r>
              <a:rPr sz="1700" dirty="0">
                <a:solidFill>
                  <a:srgbClr val="132033"/>
                </a:solidFill>
              </a:rPr>
              <a:t>, </a:t>
            </a:r>
            <a:r>
              <a:rPr sz="1700" dirty="0" err="1">
                <a:solidFill>
                  <a:srgbClr val="132033"/>
                </a:solidFill>
              </a:rPr>
              <a:t>inventario</a:t>
            </a:r>
            <a:r>
              <a:rPr sz="1700" dirty="0">
                <a:solidFill>
                  <a:srgbClr val="132033"/>
                </a:solidFill>
              </a:rPr>
              <a:t>, </a:t>
            </a:r>
            <a:r>
              <a:rPr sz="1700" dirty="0" err="1">
                <a:solidFill>
                  <a:srgbClr val="132033"/>
                </a:solidFill>
              </a:rPr>
              <a:t>usuarios</a:t>
            </a:r>
            <a:r>
              <a:rPr sz="1700" dirty="0">
                <a:solidFill>
                  <a:srgbClr val="132033"/>
                </a:solidFill>
              </a:rPr>
              <a:t>, </a:t>
            </a:r>
            <a:r>
              <a:rPr sz="1700" dirty="0" err="1">
                <a:solidFill>
                  <a:srgbClr val="132033"/>
                </a:solidFill>
              </a:rPr>
              <a:t>pedidos</a:t>
            </a:r>
            <a:r>
              <a:rPr sz="1700" dirty="0">
                <a:solidFill>
                  <a:srgbClr val="132033"/>
                </a:solidFill>
              </a:rPr>
              <a:t> y </a:t>
            </a:r>
            <a:r>
              <a:rPr sz="1700" dirty="0" err="1">
                <a:solidFill>
                  <a:srgbClr val="132033"/>
                </a:solidFill>
              </a:rPr>
              <a:t>reportes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básicos</a:t>
            </a:r>
            <a:r>
              <a:rPr sz="1700" dirty="0">
                <a:solidFill>
                  <a:srgbClr val="132033"/>
                </a:solidFill>
              </a:rPr>
              <a:t>.</a:t>
            </a:r>
            <a:endParaRPr sz="17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FCF30F9-E185-4D56-861A-7CE5EAB4EE2A}"/>
              </a:ext>
            </a:extLst>
          </p:cNvPr>
          <p:cNvSpPr>
            <a:spLocks noGrp="1"/>
          </p:cNvSpPr>
          <p:nvPr/>
        </p:nvSpPr>
        <p:spPr>
          <a:xfrm>
            <a:off x="6400800" y="18745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F2D3221-D057-4733-B9AB-E0F3DAF301D8}"/>
              </a:ext>
            </a:extLst>
          </p:cNvPr>
          <p:cNvSpPr>
            <a:spLocks noGrp="1"/>
          </p:cNvSpPr>
          <p:nvPr/>
        </p:nvSpPr>
        <p:spPr>
          <a:xfrm>
            <a:off x="6510528" y="1947672"/>
            <a:ext cx="923544" cy="146304"/>
          </a:xfrm>
          <a:prstGeom prst="rect">
            <a:avLst/>
          </a:prstGeom>
          <a:noFill/>
        </p:spPr>
        <p:txBody>
          <a:bodyPr lIns="0" tIns="0" rIns="0" bIns="0" anchor="ctr">
            <a:normAutofit fontScale="81611" lnSpcReduction="10000"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1E5BB8"/>
                </a:solidFill>
              </a:rPr>
              <a:t>REGLAS Y LÍMITES</a:t>
            </a:r>
            <a:endParaRPr sz="10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D1E55E1-EC2A-41CB-9883-E539196DA7E4}"/>
              </a:ext>
            </a:extLst>
          </p:cNvPr>
          <p:cNvSpPr>
            <a:spLocks noGrp="1"/>
          </p:cNvSpPr>
          <p:nvPr/>
        </p:nvSpPr>
        <p:spPr>
          <a:xfrm>
            <a:off x="6446520" y="2496312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1F1C7D4-86AF-4C50-B5BA-B766A57418F4}"/>
              </a:ext>
            </a:extLst>
          </p:cNvPr>
          <p:cNvSpPr>
            <a:spLocks noGrp="1"/>
          </p:cNvSpPr>
          <p:nvPr/>
        </p:nvSpPr>
        <p:spPr>
          <a:xfrm>
            <a:off x="6647688" y="2423160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99845"/>
          </a:bodyPr>
          <a:lstStyle/>
          <a:p>
            <a:pPr marL="0" indent="0">
              <a:buNone/>
            </a:pPr>
            <a:r>
              <a:rPr sz="1300" dirty="0">
                <a:solidFill>
                  <a:srgbClr val="132033"/>
                </a:solidFill>
              </a:rPr>
              <a:t>Piloto </a:t>
            </a:r>
            <a:r>
              <a:rPr sz="1300" dirty="0" err="1">
                <a:solidFill>
                  <a:srgbClr val="132033"/>
                </a:solidFill>
              </a:rPr>
              <a:t>enfocado</a:t>
            </a:r>
            <a:r>
              <a:rPr sz="1300" dirty="0">
                <a:solidFill>
                  <a:srgbClr val="132033"/>
                </a:solidFill>
              </a:rPr>
              <a:t> </a:t>
            </a:r>
            <a:r>
              <a:rPr sz="1300" dirty="0" err="1">
                <a:solidFill>
                  <a:srgbClr val="132033"/>
                </a:solidFill>
              </a:rPr>
              <a:t>en</a:t>
            </a:r>
            <a:r>
              <a:rPr sz="1300" dirty="0">
                <a:solidFill>
                  <a:srgbClr val="132033"/>
                </a:solidFill>
              </a:rPr>
              <a:t> </a:t>
            </a:r>
            <a:r>
              <a:rPr lang="es-CL" sz="1300" dirty="0">
                <a:solidFill>
                  <a:srgbClr val="132033"/>
                </a:solidFill>
              </a:rPr>
              <a:t>sucursal ubicada</a:t>
            </a:r>
            <a:r>
              <a:rPr sz="1300" dirty="0">
                <a:solidFill>
                  <a:srgbClr val="132033"/>
                </a:solidFill>
              </a:rPr>
              <a:t> </a:t>
            </a:r>
            <a:r>
              <a:rPr sz="1300" dirty="0" err="1">
                <a:solidFill>
                  <a:srgbClr val="132033"/>
                </a:solidFill>
              </a:rPr>
              <a:t>en</a:t>
            </a:r>
            <a:r>
              <a:rPr sz="1300" dirty="0">
                <a:solidFill>
                  <a:srgbClr val="132033"/>
                </a:solidFill>
              </a:rPr>
              <a:t> </a:t>
            </a:r>
            <a:r>
              <a:rPr sz="1300" dirty="0" err="1">
                <a:solidFill>
                  <a:srgbClr val="132033"/>
                </a:solidFill>
              </a:rPr>
              <a:t>Quilicura</a:t>
            </a:r>
            <a:r>
              <a:rPr sz="1300" dirty="0">
                <a:solidFill>
                  <a:srgbClr val="132033"/>
                </a:solidFill>
              </a:rPr>
              <a:t>.</a:t>
            </a:r>
            <a:endParaRPr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726B2FB-6AB9-4869-A476-074DB749A190}"/>
              </a:ext>
            </a:extLst>
          </p:cNvPr>
          <p:cNvSpPr>
            <a:spLocks noGrp="1"/>
          </p:cNvSpPr>
          <p:nvPr/>
        </p:nvSpPr>
        <p:spPr>
          <a:xfrm>
            <a:off x="6446520" y="2980944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D7AEF7A-129B-44BE-927F-91B20696442F}"/>
              </a:ext>
            </a:extLst>
          </p:cNvPr>
          <p:cNvSpPr>
            <a:spLocks noGrp="1"/>
          </p:cNvSpPr>
          <p:nvPr/>
        </p:nvSpPr>
        <p:spPr>
          <a:xfrm>
            <a:off x="6647688" y="2907792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8431" lnSpcReduction="20000"/>
          </a:bodyPr>
          <a:lstStyle/>
          <a:p>
            <a:pPr marL="0" indent="0">
              <a:buNone/>
            </a:pPr>
            <a:r>
              <a:rPr sz="1700" dirty="0">
                <a:solidFill>
                  <a:srgbClr val="132033"/>
                </a:solidFill>
              </a:rPr>
              <a:t>Las </a:t>
            </a:r>
            <a:r>
              <a:rPr sz="1700" dirty="0" err="1">
                <a:solidFill>
                  <a:srgbClr val="132033"/>
                </a:solidFill>
              </a:rPr>
              <a:t>sugerencias</a:t>
            </a:r>
            <a:r>
              <a:rPr sz="1700" dirty="0">
                <a:solidFill>
                  <a:srgbClr val="132033"/>
                </a:solidFill>
              </a:rPr>
              <a:t> de IA </a:t>
            </a:r>
            <a:r>
              <a:rPr sz="1700" dirty="0" err="1">
                <a:solidFill>
                  <a:srgbClr val="132033"/>
                </a:solidFill>
              </a:rPr>
              <a:t>orientan</a:t>
            </a:r>
            <a:r>
              <a:rPr sz="1700" dirty="0">
                <a:solidFill>
                  <a:srgbClr val="132033"/>
                </a:solidFill>
              </a:rPr>
              <a:t>; no </a:t>
            </a:r>
            <a:r>
              <a:rPr sz="1700" dirty="0" err="1">
                <a:solidFill>
                  <a:srgbClr val="132033"/>
                </a:solidFill>
              </a:rPr>
              <a:t>reemplazan</a:t>
            </a:r>
            <a:r>
              <a:rPr sz="1700" dirty="0">
                <a:solidFill>
                  <a:srgbClr val="132033"/>
                </a:solidFill>
              </a:rPr>
              <a:t> un </a:t>
            </a:r>
            <a:r>
              <a:rPr sz="1700" dirty="0" err="1">
                <a:solidFill>
                  <a:srgbClr val="132033"/>
                </a:solidFill>
              </a:rPr>
              <a:t>cálculo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técnico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profesional</a:t>
            </a:r>
            <a:r>
              <a:rPr sz="1700" dirty="0">
                <a:solidFill>
                  <a:srgbClr val="132033"/>
                </a:solidFill>
              </a:rPr>
              <a:t>.</a:t>
            </a:r>
            <a:endParaRPr sz="17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65E8252-7BFF-4E97-83E7-3A3327715E86}"/>
              </a:ext>
            </a:extLst>
          </p:cNvPr>
          <p:cNvSpPr>
            <a:spLocks noGrp="1"/>
          </p:cNvSpPr>
          <p:nvPr/>
        </p:nvSpPr>
        <p:spPr>
          <a:xfrm>
            <a:off x="6446520" y="3465576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BC2A4F3-32D4-4E88-9221-D2BBA9169A68}"/>
              </a:ext>
            </a:extLst>
          </p:cNvPr>
          <p:cNvSpPr>
            <a:spLocks noGrp="1"/>
          </p:cNvSpPr>
          <p:nvPr/>
        </p:nvSpPr>
        <p:spPr>
          <a:xfrm>
            <a:off x="6647688" y="3392424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8431" lnSpcReduction="20000"/>
          </a:bodyPr>
          <a:lstStyle/>
          <a:p>
            <a:pPr marL="0" indent="0">
              <a:buNone/>
            </a:pPr>
            <a:r>
              <a:rPr sz="1700" dirty="0" err="1">
                <a:solidFill>
                  <a:srgbClr val="132033"/>
                </a:solidFill>
              </a:rPr>
              <a:t>Inventario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administrado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por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ferretería</a:t>
            </a:r>
            <a:r>
              <a:rPr sz="1700" dirty="0">
                <a:solidFill>
                  <a:srgbClr val="132033"/>
                </a:solidFill>
              </a:rPr>
              <a:t>, sin </a:t>
            </a:r>
            <a:r>
              <a:rPr sz="1700" dirty="0" err="1">
                <a:solidFill>
                  <a:srgbClr val="132033"/>
                </a:solidFill>
              </a:rPr>
              <a:t>integración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avanzada</a:t>
            </a:r>
            <a:r>
              <a:rPr sz="1700" dirty="0">
                <a:solidFill>
                  <a:srgbClr val="132033"/>
                </a:solidFill>
              </a:rPr>
              <a:t> entre </a:t>
            </a:r>
            <a:r>
              <a:rPr sz="1700" dirty="0" err="1">
                <a:solidFill>
                  <a:srgbClr val="132033"/>
                </a:solidFill>
              </a:rPr>
              <a:t>cadenas</a:t>
            </a:r>
            <a:r>
              <a:rPr sz="1700" dirty="0">
                <a:solidFill>
                  <a:srgbClr val="132033"/>
                </a:solidFill>
              </a:rPr>
              <a:t>.</a:t>
            </a:r>
            <a:endParaRPr sz="17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82FD402-A731-4AD8-A927-E82DE8E6BD64}"/>
              </a:ext>
            </a:extLst>
          </p:cNvPr>
          <p:cNvSpPr>
            <a:spLocks noGrp="1"/>
          </p:cNvSpPr>
          <p:nvPr/>
        </p:nvSpPr>
        <p:spPr>
          <a:xfrm>
            <a:off x="6446520" y="3950208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878603F-63E6-445E-AAB4-AEA540D36EF8}"/>
              </a:ext>
            </a:extLst>
          </p:cNvPr>
          <p:cNvSpPr>
            <a:spLocks noGrp="1"/>
          </p:cNvSpPr>
          <p:nvPr/>
        </p:nvSpPr>
        <p:spPr>
          <a:xfrm>
            <a:off x="6647688" y="3877056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8431" lnSpcReduction="20000"/>
          </a:bodyPr>
          <a:lstStyle/>
          <a:p>
            <a:pPr marL="0" indent="0">
              <a:buNone/>
            </a:pPr>
            <a:r>
              <a:rPr sz="1700" dirty="0">
                <a:solidFill>
                  <a:srgbClr val="132033"/>
                </a:solidFill>
              </a:rPr>
              <a:t>Crédito especial </a:t>
            </a:r>
            <a:r>
              <a:rPr sz="1700" dirty="0" err="1">
                <a:solidFill>
                  <a:srgbClr val="132033"/>
                </a:solidFill>
              </a:rPr>
              <a:t>limitado</a:t>
            </a:r>
            <a:r>
              <a:rPr sz="1700" dirty="0">
                <a:solidFill>
                  <a:srgbClr val="132033"/>
                </a:solidFill>
              </a:rPr>
              <a:t> a maestros </a:t>
            </a:r>
            <a:r>
              <a:rPr sz="1700" dirty="0" err="1">
                <a:solidFill>
                  <a:srgbClr val="132033"/>
                </a:solidFill>
              </a:rPr>
              <a:t>registrados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que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cumplan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los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requisitos</a:t>
            </a:r>
            <a:r>
              <a:rPr sz="1700" dirty="0">
                <a:solidFill>
                  <a:srgbClr val="132033"/>
                </a:solidFill>
              </a:rPr>
              <a:t>.</a:t>
            </a:r>
            <a:endParaRPr sz="17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E6FCDD3-445E-40C0-94C6-9CA2FAAE0E52}"/>
              </a:ext>
            </a:extLst>
          </p:cNvPr>
          <p:cNvSpPr>
            <a:spLocks noGrp="1"/>
          </p:cNvSpPr>
          <p:nvPr/>
        </p:nvSpPr>
        <p:spPr>
          <a:xfrm>
            <a:off x="6446520" y="4434840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42379D4-163F-42A9-B3B3-9D9A6C1ECA05}"/>
              </a:ext>
            </a:extLst>
          </p:cNvPr>
          <p:cNvSpPr>
            <a:spLocks noGrp="1"/>
          </p:cNvSpPr>
          <p:nvPr/>
        </p:nvSpPr>
        <p:spPr>
          <a:xfrm>
            <a:off x="6647688" y="4361688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8431" lnSpcReduction="20000"/>
          </a:bodyPr>
          <a:lstStyle/>
          <a:p>
            <a:pPr marL="0" indent="0">
              <a:buNone/>
            </a:pPr>
            <a:r>
              <a:rPr sz="1700" dirty="0">
                <a:solidFill>
                  <a:srgbClr val="132033"/>
                </a:solidFill>
              </a:rPr>
              <a:t>Pagos </a:t>
            </a:r>
            <a:r>
              <a:rPr sz="1700" dirty="0" err="1">
                <a:solidFill>
                  <a:srgbClr val="132033"/>
                </a:solidFill>
              </a:rPr>
              <a:t>mediante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pasarela</a:t>
            </a:r>
            <a:r>
              <a:rPr sz="1700" dirty="0">
                <a:solidFill>
                  <a:srgbClr val="132033"/>
                </a:solidFill>
              </a:rPr>
              <a:t> configurable; </a:t>
            </a:r>
            <a:r>
              <a:rPr sz="1700" dirty="0" err="1">
                <a:solidFill>
                  <a:srgbClr val="132033"/>
                </a:solidFill>
              </a:rPr>
              <a:t>liquidaciones</a:t>
            </a:r>
            <a:r>
              <a:rPr sz="1700" dirty="0">
                <a:solidFill>
                  <a:srgbClr val="132033"/>
                </a:solidFill>
              </a:rPr>
              <a:t> marketplace </a:t>
            </a:r>
            <a:r>
              <a:rPr sz="1700" dirty="0" err="1">
                <a:solidFill>
                  <a:srgbClr val="132033"/>
                </a:solidFill>
              </a:rPr>
              <a:t>quedan</a:t>
            </a:r>
            <a:r>
              <a:rPr sz="1700" dirty="0">
                <a:solidFill>
                  <a:srgbClr val="132033"/>
                </a:solidFill>
              </a:rPr>
              <a:t> fuera del MVP.</a:t>
            </a:r>
            <a:endParaRPr sz="17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359F27A-6D7A-4A38-9C99-32CFBA6EC679}"/>
              </a:ext>
            </a:extLst>
          </p:cNvPr>
          <p:cNvSpPr>
            <a:spLocks noGrp="1"/>
          </p:cNvSpPr>
          <p:nvPr/>
        </p:nvSpPr>
        <p:spPr>
          <a:xfrm>
            <a:off x="5742432" y="5074920"/>
            <a:ext cx="384048" cy="384048"/>
          </a:xfrm>
          <a:prstGeom prst="chevron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B2B24C2-7343-412A-B1A1-6B040F3E6F8A}"/>
              </a:ext>
            </a:extLst>
          </p:cNvPr>
          <p:cNvSpPr>
            <a:spLocks noGrp="1"/>
          </p:cNvSpPr>
          <p:nvPr/>
        </p:nvSpPr>
        <p:spPr>
          <a:xfrm>
            <a:off x="1005840" y="5715000"/>
            <a:ext cx="10149840" cy="32004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0B1F3A"/>
                </a:solidFill>
              </a:rPr>
              <a:t>MVP esperado: compra asistida + contratación de servicios + administración ferretera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33761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8FCC58-D7BB-4BE9-9E60-6478963FE69C}"/>
              </a:ext>
            </a:extLst>
          </p:cNvPr>
          <p:cNvSpPr>
            <a:spLocks noGrp="1"/>
          </p:cNvSpPr>
          <p:nvPr/>
        </p:nvSpPr>
        <p:spPr>
          <a:xfrm>
            <a:off x="4892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F4DAEF-87CF-4770-83BF-F05240EDC8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BB91E4-294A-4D1A-A0D7-6AE9DFC3E132}"/>
              </a:ext>
            </a:extLst>
          </p:cNvPr>
          <p:cNvSpPr>
            <a:spLocks noGrp="1"/>
          </p:cNvSpPr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5890FA-2476-4712-9D0D-30DE63F3FE08}"/>
              </a:ext>
            </a:extLst>
          </p:cNvPr>
          <p:cNvSpPr>
            <a:spLocks noGrp="1"/>
          </p:cNvSpPr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Ejecución del proyecto con Scrum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7D941B-257D-42E8-91CD-40124CC46111}"/>
              </a:ext>
            </a:extLst>
          </p:cNvPr>
          <p:cNvSpPr>
            <a:spLocks noGrp="1"/>
          </p:cNvSpPr>
          <p:nvPr/>
        </p:nvSpPr>
        <p:spPr>
          <a:xfrm>
            <a:off x="704088" y="1033272"/>
            <a:ext cx="8046720" cy="292608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5F6B7A"/>
                </a:solidFill>
              </a:rPr>
              <a:t>18 Sprints semanales: desde Sprint 0 hasta Sprint 17, con entrega incremental.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4F6980-CB7B-4F4E-8EBC-86B58D2BD162}"/>
              </a:ext>
            </a:extLst>
          </p:cNvPr>
          <p:cNvSpPr>
            <a:spLocks noGrp="1"/>
          </p:cNvSpPr>
          <p:nvPr/>
        </p:nvSpPr>
        <p:spPr>
          <a:xfrm>
            <a:off x="694944" y="1600200"/>
            <a:ext cx="10789920" cy="5486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15343C-7661-4394-8BA1-1BDB58F1A401}"/>
              </a:ext>
            </a:extLst>
          </p:cNvPr>
          <p:cNvSpPr>
            <a:spLocks noGrp="1"/>
          </p:cNvSpPr>
          <p:nvPr/>
        </p:nvSpPr>
        <p:spPr>
          <a:xfrm>
            <a:off x="758952" y="18745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84B5C6-AB9F-4BD6-BC38-B25F0342D8F6}"/>
              </a:ext>
            </a:extLst>
          </p:cNvPr>
          <p:cNvSpPr>
            <a:spLocks noGrp="1"/>
          </p:cNvSpPr>
          <p:nvPr/>
        </p:nvSpPr>
        <p:spPr>
          <a:xfrm>
            <a:off x="868680" y="1947672"/>
            <a:ext cx="923544" cy="146304"/>
          </a:xfrm>
          <a:prstGeom prst="rect">
            <a:avLst/>
          </a:prstGeom>
          <a:noFill/>
        </p:spPr>
        <p:txBody>
          <a:bodyPr lIns="0" tIns="0" rIns="0" bIns="0" anchor="ctr">
            <a:normAutofit fontScale="91429" lnSpcReduction="10000"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0B1F3A"/>
                </a:solidFill>
              </a:rPr>
              <a:t>ROLES SCRUM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502401E-918C-4B06-BFDA-8E03991ECF3D}"/>
              </a:ext>
            </a:extLst>
          </p:cNvPr>
          <p:cNvSpPr>
            <a:spLocks noGrp="1"/>
          </p:cNvSpPr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EABF67F-9FBB-4AEC-B05B-299912AC87C7}"/>
              </a:ext>
            </a:extLst>
          </p:cNvPr>
          <p:cNvSpPr>
            <a:spLocks noGrp="1"/>
          </p:cNvSpPr>
          <p:nvPr/>
        </p:nvSpPr>
        <p:spPr>
          <a:xfrm>
            <a:off x="1024128" y="2423160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6101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Product Owner: Felipe prioriza el Product Backlog y maximiza el valor.</a:t>
            </a:r>
            <a:endParaRPr sz="17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0513DAB-F67B-4D64-A041-A42EB4EC831E}"/>
              </a:ext>
            </a:extLst>
          </p:cNvPr>
          <p:cNvSpPr>
            <a:spLocks noGrp="1"/>
          </p:cNvSpPr>
          <p:nvPr/>
        </p:nvSpPr>
        <p:spPr>
          <a:xfrm>
            <a:off x="822960" y="2980944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CA7016-D793-45CF-B3F1-DFB33601DEF9}"/>
              </a:ext>
            </a:extLst>
          </p:cNvPr>
          <p:cNvSpPr>
            <a:spLocks noGrp="1"/>
          </p:cNvSpPr>
          <p:nvPr/>
        </p:nvSpPr>
        <p:spPr>
          <a:xfrm>
            <a:off x="1024128" y="2907792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3762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Scrum Master: Franco facilita eventos y ayuda a remover impedimentos.</a:t>
            </a:r>
            <a:endParaRPr sz="17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0124F07-C7C9-47AE-9376-B5ADD93687B9}"/>
              </a:ext>
            </a:extLst>
          </p:cNvPr>
          <p:cNvSpPr>
            <a:spLocks noGrp="1"/>
          </p:cNvSpPr>
          <p:nvPr/>
        </p:nvSpPr>
        <p:spPr>
          <a:xfrm>
            <a:off x="822960" y="3465576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0618AE-BD5B-4BA0-B53C-A9AE38468AFE}"/>
              </a:ext>
            </a:extLst>
          </p:cNvPr>
          <p:cNvSpPr>
            <a:spLocks noGrp="1"/>
          </p:cNvSpPr>
          <p:nvPr/>
        </p:nvSpPr>
        <p:spPr>
          <a:xfrm>
            <a:off x="1024128" y="3392424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81342" lnSpcReduction="1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Developers: Vicente y Alonso construyen y validan el Incremento.</a:t>
            </a:r>
            <a:endParaRPr sz="17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63F4947-8D47-419C-8A50-F4244E790865}"/>
              </a:ext>
            </a:extLst>
          </p:cNvPr>
          <p:cNvSpPr>
            <a:spLocks noGrp="1"/>
          </p:cNvSpPr>
          <p:nvPr/>
        </p:nvSpPr>
        <p:spPr>
          <a:xfrm>
            <a:off x="822960" y="3950208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6F8FDA3-0295-4E4D-8799-21BA8E6A1BDE}"/>
              </a:ext>
            </a:extLst>
          </p:cNvPr>
          <p:cNvSpPr>
            <a:spLocks noGrp="1"/>
          </p:cNvSpPr>
          <p:nvPr/>
        </p:nvSpPr>
        <p:spPr>
          <a:xfrm>
            <a:off x="1024128" y="3877056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83601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Stakeholders: ferreterías, clientes, maestros y contraparte evaluadora.</a:t>
            </a:r>
            <a:endParaRPr sz="17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31DF8FD-662C-410E-A4D0-16530EA3B893}"/>
              </a:ext>
            </a:extLst>
          </p:cNvPr>
          <p:cNvSpPr>
            <a:spLocks noGrp="1"/>
          </p:cNvSpPr>
          <p:nvPr/>
        </p:nvSpPr>
        <p:spPr>
          <a:xfrm>
            <a:off x="822960" y="4434840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4B9397C-673F-4C08-AB9B-7B3FACAC706A}"/>
              </a:ext>
            </a:extLst>
          </p:cNvPr>
          <p:cNvSpPr>
            <a:spLocks noGrp="1"/>
          </p:cNvSpPr>
          <p:nvPr/>
        </p:nvSpPr>
        <p:spPr>
          <a:xfrm>
            <a:off x="1024128" y="4361688"/>
            <a:ext cx="512064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8708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Todo el equipo responde por la Meta del Sprint y la calidad del Incremento.</a:t>
            </a:r>
            <a:endParaRPr sz="17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FCF30F9-E185-4D56-861A-7CE5EAB4EE2A}"/>
              </a:ext>
            </a:extLst>
          </p:cNvPr>
          <p:cNvSpPr>
            <a:spLocks noGrp="1"/>
          </p:cNvSpPr>
          <p:nvPr/>
        </p:nvSpPr>
        <p:spPr>
          <a:xfrm>
            <a:off x="6400800" y="18745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F2D3221-D057-4733-B9AB-E0F3DAF301D8}"/>
              </a:ext>
            </a:extLst>
          </p:cNvPr>
          <p:cNvSpPr>
            <a:spLocks noGrp="1"/>
          </p:cNvSpPr>
          <p:nvPr/>
        </p:nvSpPr>
        <p:spPr>
          <a:xfrm>
            <a:off x="6510528" y="1947672"/>
            <a:ext cx="923544" cy="146304"/>
          </a:xfrm>
          <a:prstGeom prst="rect">
            <a:avLst/>
          </a:prstGeom>
          <a:noFill/>
        </p:spPr>
        <p:txBody>
          <a:bodyPr lIns="0" tIns="0" rIns="0" bIns="0" anchor="ctr">
            <a:normAutofit fontScale="90761" lnSpcReduction="20000"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1E5BB8"/>
                </a:solidFill>
              </a:rPr>
              <a:t>CICLO SEMANAL</a:t>
            </a:r>
            <a:endParaRPr sz="10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D1E55E1-EC2A-41CB-9883-E539196DA7E4}"/>
              </a:ext>
            </a:extLst>
          </p:cNvPr>
          <p:cNvSpPr>
            <a:spLocks noGrp="1"/>
          </p:cNvSpPr>
          <p:nvPr/>
        </p:nvSpPr>
        <p:spPr>
          <a:xfrm>
            <a:off x="6446520" y="2496312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1F1C7D4-86AF-4C50-B5BA-B766A57418F4}"/>
              </a:ext>
            </a:extLst>
          </p:cNvPr>
          <p:cNvSpPr>
            <a:spLocks noGrp="1"/>
          </p:cNvSpPr>
          <p:nvPr/>
        </p:nvSpPr>
        <p:spPr>
          <a:xfrm>
            <a:off x="6647688" y="2423160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3762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Sprint Planning: objetivo semanal y selección del Sprint Backlog.</a:t>
            </a:r>
            <a:endParaRPr sz="17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726B2FB-6AB9-4869-A476-074DB749A190}"/>
              </a:ext>
            </a:extLst>
          </p:cNvPr>
          <p:cNvSpPr>
            <a:spLocks noGrp="1"/>
          </p:cNvSpPr>
          <p:nvPr/>
        </p:nvSpPr>
        <p:spPr>
          <a:xfrm>
            <a:off x="6446520" y="2980944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D7AEF7A-129B-44BE-927F-91B20696442F}"/>
              </a:ext>
            </a:extLst>
          </p:cNvPr>
          <p:cNvSpPr>
            <a:spLocks noGrp="1"/>
          </p:cNvSpPr>
          <p:nvPr/>
        </p:nvSpPr>
        <p:spPr>
          <a:xfrm>
            <a:off x="6647688" y="2907792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7398" lnSpcReduction="20000"/>
          </a:bodyPr>
          <a:lstStyle/>
          <a:p>
            <a:pPr marL="0" indent="0">
              <a:buNone/>
            </a:pPr>
            <a:r>
              <a:rPr sz="1700">
                <a:solidFill>
                  <a:srgbClr val="132033"/>
                </a:solidFill>
              </a:rPr>
              <a:t>Daily Scrum de 15 minutos para coordinar avances e impedimentos.</a:t>
            </a:r>
            <a:endParaRPr sz="17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65E8252-7BFF-4E97-83E7-3A3327715E86}"/>
              </a:ext>
            </a:extLst>
          </p:cNvPr>
          <p:cNvSpPr>
            <a:spLocks noGrp="1"/>
          </p:cNvSpPr>
          <p:nvPr/>
        </p:nvSpPr>
        <p:spPr>
          <a:xfrm>
            <a:off x="6446520" y="3465576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BC2A4F3-32D4-4E88-9221-D2BBA9169A68}"/>
              </a:ext>
            </a:extLst>
          </p:cNvPr>
          <p:cNvSpPr>
            <a:spLocks noGrp="1"/>
          </p:cNvSpPr>
          <p:nvPr/>
        </p:nvSpPr>
        <p:spPr>
          <a:xfrm>
            <a:off x="6647688" y="3392424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3414" lnSpcReduction="20000"/>
          </a:bodyPr>
          <a:lstStyle/>
          <a:p>
            <a:pPr marL="0" indent="0">
              <a:buNone/>
            </a:pPr>
            <a:r>
              <a:rPr dirty="0">
                <a:solidFill>
                  <a:srgbClr val="132033"/>
                </a:solidFill>
              </a:rPr>
              <a:t>Desarrollo, </a:t>
            </a:r>
            <a:r>
              <a:rPr dirty="0" err="1">
                <a:solidFill>
                  <a:srgbClr val="132033"/>
                </a:solidFill>
              </a:rPr>
              <a:t>pruebas</a:t>
            </a:r>
            <a:r>
              <a:rPr dirty="0">
                <a:solidFill>
                  <a:srgbClr val="132033"/>
                </a:solidFill>
              </a:rPr>
              <a:t> y </a:t>
            </a:r>
            <a:r>
              <a:rPr dirty="0" err="1">
                <a:solidFill>
                  <a:srgbClr val="132033"/>
                </a:solidFill>
              </a:rPr>
              <a:t>refinamiento</a:t>
            </a:r>
            <a:r>
              <a:rPr dirty="0">
                <a:solidFill>
                  <a:srgbClr val="132033"/>
                </a:solidFill>
              </a:rPr>
              <a:t> continuo del Product Backlog</a:t>
            </a:r>
            <a:r>
              <a:rPr sz="1700" dirty="0">
                <a:solidFill>
                  <a:srgbClr val="132033"/>
                </a:solidFill>
              </a:rPr>
              <a:t>.</a:t>
            </a:r>
            <a:endParaRPr sz="17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82FD402-A731-4AD8-A927-E82DE8E6BD64}"/>
              </a:ext>
            </a:extLst>
          </p:cNvPr>
          <p:cNvSpPr>
            <a:spLocks noGrp="1"/>
          </p:cNvSpPr>
          <p:nvPr/>
        </p:nvSpPr>
        <p:spPr>
          <a:xfrm>
            <a:off x="6446520" y="3950208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878603F-63E6-445E-AAB4-AEA540D36EF8}"/>
              </a:ext>
            </a:extLst>
          </p:cNvPr>
          <p:cNvSpPr>
            <a:spLocks noGrp="1"/>
          </p:cNvSpPr>
          <p:nvPr/>
        </p:nvSpPr>
        <p:spPr>
          <a:xfrm>
            <a:off x="6647688" y="3877056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77415" lnSpcReduction="20000"/>
          </a:bodyPr>
          <a:lstStyle/>
          <a:p>
            <a:pPr marL="0" indent="0">
              <a:buNone/>
            </a:pPr>
            <a:r>
              <a:rPr sz="1700" dirty="0">
                <a:solidFill>
                  <a:srgbClr val="132033"/>
                </a:solidFill>
              </a:rPr>
              <a:t>Sprint Review: </a:t>
            </a:r>
            <a:r>
              <a:rPr sz="1700" dirty="0" err="1">
                <a:solidFill>
                  <a:srgbClr val="132033"/>
                </a:solidFill>
              </a:rPr>
              <a:t>demostración</a:t>
            </a:r>
            <a:r>
              <a:rPr sz="1700" dirty="0">
                <a:solidFill>
                  <a:srgbClr val="132033"/>
                </a:solidFill>
              </a:rPr>
              <a:t> y </a:t>
            </a:r>
            <a:r>
              <a:rPr sz="1700" dirty="0" err="1">
                <a:solidFill>
                  <a:srgbClr val="132033"/>
                </a:solidFill>
              </a:rPr>
              <a:t>validación</a:t>
            </a:r>
            <a:r>
              <a:rPr sz="1700" dirty="0">
                <a:solidFill>
                  <a:srgbClr val="132033"/>
                </a:solidFill>
              </a:rPr>
              <a:t> con </a:t>
            </a:r>
            <a:r>
              <a:rPr sz="1700" dirty="0" err="1">
                <a:solidFill>
                  <a:srgbClr val="132033"/>
                </a:solidFill>
              </a:rPr>
              <a:t>los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interesados</a:t>
            </a:r>
            <a:r>
              <a:rPr sz="1700" dirty="0">
                <a:solidFill>
                  <a:srgbClr val="132033"/>
                </a:solidFill>
              </a:rPr>
              <a:t>.</a:t>
            </a:r>
            <a:endParaRPr sz="17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E6FCDD3-445E-40C0-94C6-9CA2FAAE0E52}"/>
              </a:ext>
            </a:extLst>
          </p:cNvPr>
          <p:cNvSpPr>
            <a:spLocks noGrp="1"/>
          </p:cNvSpPr>
          <p:nvPr/>
        </p:nvSpPr>
        <p:spPr>
          <a:xfrm>
            <a:off x="6446520" y="4434840"/>
            <a:ext cx="91440" cy="91440"/>
          </a:xfrm>
          <a:prstGeom prst="ellipse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42379D4-163F-42A9-B3B3-9D9A6C1ECA05}"/>
              </a:ext>
            </a:extLst>
          </p:cNvPr>
          <p:cNvSpPr>
            <a:spLocks noGrp="1"/>
          </p:cNvSpPr>
          <p:nvPr/>
        </p:nvSpPr>
        <p:spPr>
          <a:xfrm>
            <a:off x="6647688" y="4361688"/>
            <a:ext cx="4572000" cy="329184"/>
          </a:xfrm>
          <a:prstGeom prst="rect">
            <a:avLst/>
          </a:prstGeom>
          <a:noFill/>
        </p:spPr>
        <p:txBody>
          <a:bodyPr lIns="254" tIns="254" rIns="254" bIns="254" anchor="ctr">
            <a:normAutofit fontScale="82723" lnSpcReduction="10000"/>
          </a:bodyPr>
          <a:lstStyle/>
          <a:p>
            <a:pPr marL="0" indent="0">
              <a:buNone/>
            </a:pPr>
            <a:r>
              <a:rPr sz="1700" dirty="0">
                <a:solidFill>
                  <a:srgbClr val="132033"/>
                </a:solidFill>
              </a:rPr>
              <a:t>Retrospective: </a:t>
            </a:r>
            <a:r>
              <a:rPr sz="1700" dirty="0" err="1">
                <a:solidFill>
                  <a:srgbClr val="132033"/>
                </a:solidFill>
              </a:rPr>
              <a:t>mejoras</a:t>
            </a:r>
            <a:r>
              <a:rPr sz="1700" dirty="0">
                <a:solidFill>
                  <a:srgbClr val="132033"/>
                </a:solidFill>
              </a:rPr>
              <a:t> </a:t>
            </a:r>
            <a:r>
              <a:rPr sz="1700" dirty="0" err="1">
                <a:solidFill>
                  <a:srgbClr val="132033"/>
                </a:solidFill>
              </a:rPr>
              <a:t>concretas</a:t>
            </a:r>
            <a:r>
              <a:rPr sz="1700" dirty="0">
                <a:solidFill>
                  <a:srgbClr val="132033"/>
                </a:solidFill>
              </a:rPr>
              <a:t> para el </a:t>
            </a:r>
            <a:r>
              <a:rPr sz="1700" dirty="0" err="1">
                <a:solidFill>
                  <a:srgbClr val="132033"/>
                </a:solidFill>
              </a:rPr>
              <a:t>siguiente</a:t>
            </a:r>
            <a:r>
              <a:rPr sz="1700" dirty="0">
                <a:solidFill>
                  <a:srgbClr val="132033"/>
                </a:solidFill>
              </a:rPr>
              <a:t> Sprint.</a:t>
            </a:r>
            <a:endParaRPr sz="17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359F27A-6D7A-4A38-9C99-32CFBA6EC679}"/>
              </a:ext>
            </a:extLst>
          </p:cNvPr>
          <p:cNvSpPr>
            <a:spLocks noGrp="1"/>
          </p:cNvSpPr>
          <p:nvPr/>
        </p:nvSpPr>
        <p:spPr>
          <a:xfrm>
            <a:off x="5742432" y="5074920"/>
            <a:ext cx="384048" cy="384048"/>
          </a:xfrm>
          <a:prstGeom prst="chevron">
            <a:avLst/>
          </a:prstGeom>
          <a:solidFill>
            <a:srgbClr val="FFC928"/>
          </a:solidFill>
          <a:ln w="12700">
            <a:solidFill>
              <a:srgbClr val="FFC9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B2B24C2-7343-412A-B1A1-6B040F3E6F8A}"/>
              </a:ext>
            </a:extLst>
          </p:cNvPr>
          <p:cNvSpPr>
            <a:spLocks noGrp="1"/>
          </p:cNvSpPr>
          <p:nvPr/>
        </p:nvSpPr>
        <p:spPr>
          <a:xfrm>
            <a:off x="1005840" y="5715000"/>
            <a:ext cx="10149840" cy="32004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0B1F3A"/>
                </a:solidFill>
              </a:rPr>
              <a:t>Sprint 0: visión, arquitectura, backlog y DoD  •  Sprint 17: validación, despliegue y cierre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337616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Microsoft Office PowerPoint</Application>
  <DocSecurity>0</DocSecurity>
  <PresentationFormat>Panorámica</PresentationFormat>
  <Paragraphs>66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FELIPE IGNACIO CHAVEZ SALINAS</cp:lastModifiedBy>
  <cp:revision>1</cp:revision>
  <dcterms:created xsi:type="dcterms:W3CDTF">2026-08-22T01:47:50Z</dcterms:created>
  <dcterms:modified xsi:type="dcterms:W3CDTF">2026-08-22T01:57:11Z</dcterms:modified>
</cp:coreProperties>
</file>